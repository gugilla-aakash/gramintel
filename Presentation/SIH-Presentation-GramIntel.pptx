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CB985A9-DF4C-461C-995C-B6C25D2D4FF6}" v="2" dt="2026-09-11T15:25:19.7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udheesh chandra chowdary chunduri" userId="568cacb26267c967" providerId="LiveId" clId="{81D9DF75-E425-4535-A4D6-68E9678FA894}"/>
    <pc:docChg chg="modSld">
      <pc:chgData name="yudheesh chandra chowdary chunduri" userId="568cacb26267c967" providerId="LiveId" clId="{81D9DF75-E425-4535-A4D6-68E9678FA894}" dt="2026-09-11T15:27:34.315" v="202" actId="20577"/>
      <pc:docMkLst>
        <pc:docMk/>
      </pc:docMkLst>
      <pc:sldChg chg="modSp mod">
        <pc:chgData name="yudheesh chandra chowdary chunduri" userId="568cacb26267c967" providerId="LiveId" clId="{81D9DF75-E425-4535-A4D6-68E9678FA894}" dt="2026-09-11T15:23:00.752" v="7" actId="20577"/>
        <pc:sldMkLst>
          <pc:docMk/>
          <pc:sldMk cId="0" sldId="256"/>
        </pc:sldMkLst>
        <pc:spChg chg="mod">
          <ac:chgData name="yudheesh chandra chowdary chunduri" userId="568cacb26267c967" providerId="LiveId" clId="{81D9DF75-E425-4535-A4D6-68E9678FA894}" dt="2026-09-11T15:23:00.752" v="7" actId="20577"/>
          <ac:spMkLst>
            <pc:docMk/>
            <pc:sldMk cId="0" sldId="256"/>
            <ac:spMk id="71" creationId="{00000000-0000-0000-0000-000000000000}"/>
          </ac:spMkLst>
        </pc:spChg>
      </pc:sldChg>
      <pc:sldChg chg="modSp mod">
        <pc:chgData name="yudheesh chandra chowdary chunduri" userId="568cacb26267c967" providerId="LiveId" clId="{81D9DF75-E425-4535-A4D6-68E9678FA894}" dt="2026-09-11T15:26:03.546" v="200" actId="20577"/>
        <pc:sldMkLst>
          <pc:docMk/>
          <pc:sldMk cId="0" sldId="258"/>
        </pc:sldMkLst>
        <pc:spChg chg="mod">
          <ac:chgData name="yudheesh chandra chowdary chunduri" userId="568cacb26267c967" providerId="LiveId" clId="{81D9DF75-E425-4535-A4D6-68E9678FA894}" dt="2026-09-11T15:26:03.546" v="200" actId="20577"/>
          <ac:spMkLst>
            <pc:docMk/>
            <pc:sldMk cId="0" sldId="258"/>
            <ac:spMk id="89" creationId="{00000000-0000-0000-0000-000000000000}"/>
          </ac:spMkLst>
        </pc:spChg>
      </pc:sldChg>
      <pc:sldChg chg="modSp mod">
        <pc:chgData name="yudheesh chandra chowdary chunduri" userId="568cacb26267c967" providerId="LiveId" clId="{81D9DF75-E425-4535-A4D6-68E9678FA894}" dt="2026-09-11T15:27:34.315" v="202" actId="20577"/>
        <pc:sldMkLst>
          <pc:docMk/>
          <pc:sldMk cId="0" sldId="261"/>
        </pc:sldMkLst>
        <pc:spChg chg="mod">
          <ac:chgData name="yudheesh chandra chowdary chunduri" userId="568cacb26267c967" providerId="LiveId" clId="{81D9DF75-E425-4535-A4D6-68E9678FA894}" dt="2026-09-11T15:27:34.315" v="202" actId="20577"/>
          <ac:spMkLst>
            <pc:docMk/>
            <pc:sldMk cId="0" sldId="261"/>
            <ac:spMk id="12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</a:rPr>
              <a:t>Click to move the slide</a:t>
            </a: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63" name="PlaceHolder 4"/>
          <p:cNvSpPr>
            <a:spLocks noGrp="1"/>
          </p:cNvSpPr>
          <p:nvPr>
            <p:ph type="dt" idx="3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4" name="PlaceHolder 5"/>
          <p:cNvSpPr>
            <a:spLocks noGrp="1"/>
          </p:cNvSpPr>
          <p:nvPr>
            <p:ph type="ftr" idx="3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5" name="PlaceHolder 6"/>
          <p:cNvSpPr>
            <a:spLocks noGrp="1"/>
          </p:cNvSpPr>
          <p:nvPr>
            <p:ph type="sldNum" idx="3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521289A-3B1B-4FE9-B199-CD2245EB167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DFF9B8A-05BB-4F3E-99A6-7AFA98234B4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FB0D710-3254-4580-AF22-4645735180C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ACE76DF-8F3C-4572-941C-1DA5A6EC7FC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ＭＳ Ｐゴシック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B46B6B9-D6EE-4153-A0BF-6DEAD74899A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ＭＳ Ｐゴシック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A84AC41-67D0-4D7E-93DA-2B2ED90736F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ＭＳ Ｐゴシック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914400" y="2130480"/>
            <a:ext cx="10362960" cy="1469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9F52E1F-A0DA-4FB1-A324-7A40AFE06E09}" type="slidenum"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TradeGothic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</a:rPr>
              <a:t>Click to edit the outline text format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TradeGothic"/>
              </a:rPr>
              <a:t>Second Outline Level</a:t>
            </a: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</a:rPr>
              <a:t>Third Outline Level</a:t>
            </a: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</a:rPr>
              <a:t>Fourth Outline Level</a:t>
            </a: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</a:rPr>
              <a:t>Fifth Outline Level</a:t>
            </a: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</a:rPr>
              <a:t>Sixth Outline Level</a:t>
            </a: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09480" y="1095480"/>
            <a:ext cx="10972440" cy="503028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07FC9C7-BAB1-440D-B809-8B9140907C15}" type="slidenum"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839080" y="274680"/>
            <a:ext cx="2742840" cy="585108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609480" y="274680"/>
            <a:ext cx="8026200" cy="585108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D7AACC6-E17D-419F-81AD-C10D1BAA6B7F}" type="slidenum"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609480" y="1095480"/>
            <a:ext cx="10972440" cy="50302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205E81C-7EE0-41E9-AD0D-502FDC47C325}" type="slidenum"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963000" y="4406760"/>
            <a:ext cx="10362960" cy="1361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963000" y="2906640"/>
            <a:ext cx="10362960" cy="14997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  <a:ea typeface="ＭＳ Ｐゴシック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TradeGothic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F4B134F-4FC1-46CB-8CB6-54772261218D}" type="slidenum"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5384520" cy="4525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197760" y="1600200"/>
            <a:ext cx="5384520" cy="4525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9FB7812-7159-44DA-B31E-76995CCC43B4}" type="slidenum"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609480" y="1535040"/>
            <a:ext cx="5386680" cy="6393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609480" y="2174760"/>
            <a:ext cx="5386680" cy="395100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93440" y="1535040"/>
            <a:ext cx="5388840" cy="6393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93440" y="2174760"/>
            <a:ext cx="5388840" cy="395100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9769862-81C5-482B-9D18-FC26579B8FF3}" type="slidenum"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FCC3D63-53F7-4ACC-9761-459973D5B3D6}" type="slidenum"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dt" idx="25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ftr" idx="26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sldNum" idx="27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C70A4F8-9FED-4215-B2C0-4C6B7B734E66}" type="slidenum"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609480" y="272880"/>
            <a:ext cx="4010760" cy="11617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4766760" y="272880"/>
            <a:ext cx="6815160" cy="5852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609480" y="1434960"/>
            <a:ext cx="4010760" cy="469080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dt" idx="28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ftr" idx="29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6"/>
          <p:cNvSpPr>
            <a:spLocks noGrp="1"/>
          </p:cNvSpPr>
          <p:nvPr>
            <p:ph type="sldNum" idx="30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65CBBC2-201D-480A-A30C-CD2E12090D00}" type="slidenum"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2389680" y="4800600"/>
            <a:ext cx="7314840" cy="5662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pic"/>
          </p:nvPr>
        </p:nvSpPr>
        <p:spPr>
          <a:xfrm>
            <a:off x="2389680" y="612720"/>
            <a:ext cx="73148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indent="0" algn="l"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2389680" y="5367240"/>
            <a:ext cx="7314840" cy="80460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dt" idx="31"/>
          </p:nvPr>
        </p:nvSpPr>
        <p:spPr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32"/>
          </p:nvPr>
        </p:nvSpPr>
        <p:spPr>
          <a:xfrm>
            <a:off x="4165560" y="6356520"/>
            <a:ext cx="3860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6"/>
          <p:cNvSpPr>
            <a:spLocks noGrp="1"/>
          </p:cNvSpPr>
          <p:nvPr>
            <p:ph type="sldNum" idx="33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00D5B3B-48A6-4AC9-94FB-C9C13FFF8C22}" type="slidenum"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dahd.gov.in/en#gsc.tab=0" TargetMode="External"/><Relationship Id="rId13" Type="http://schemas.openxmlformats.org/officeDocument/2006/relationships/image" Target="../media/image2.png"/><Relationship Id="rId3" Type="http://schemas.openxmlformats.org/officeDocument/2006/relationships/hyperlink" Target="https://nsfdc.nic.in/scheme" TargetMode="External"/><Relationship Id="rId7" Type="http://schemas.openxmlformats.org/officeDocument/2006/relationships/hyperlink" Target="https://agmarknet.gov.in/" TargetMode="External"/><Relationship Id="rId12" Type="http://schemas.openxmlformats.org/officeDocument/2006/relationships/hyperlink" Target="https://github.com/Gugilla-Aakash/GramInte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censusindia.gov.in/" TargetMode="External"/><Relationship Id="rId11" Type="http://schemas.openxmlformats.org/officeDocument/2006/relationships/hyperlink" Target="https://docs.groq.com/" TargetMode="External"/><Relationship Id="rId5" Type="http://schemas.openxmlformats.org/officeDocument/2006/relationships/hyperlink" Target="https://egramswaraj.gov.in/maSurveyDataState.do" TargetMode="External"/><Relationship Id="rId10" Type="http://schemas.openxmlformats.org/officeDocument/2006/relationships/hyperlink" Target="https://www.openstreetmap.org/" TargetMode="External"/><Relationship Id="rId4" Type="http://schemas.openxmlformats.org/officeDocument/2006/relationships/hyperlink" Target="https://nbcfdc.gov.in/" TargetMode="External"/><Relationship Id="rId9" Type="http://schemas.openxmlformats.org/officeDocument/2006/relationships/hyperlink" Target="https://overpass-api.d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6" name="Rectangle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23880" y="0"/>
            <a:ext cx="914364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Freeform: Shape 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656680" y="851400"/>
            <a:ext cx="4638240" cy="5154480"/>
          </a:xfrm>
          <a:custGeom>
            <a:avLst/>
            <a:gdLst>
              <a:gd name="textAreaLeft" fmla="*/ 0 w 4638240"/>
              <a:gd name="textAreaRight" fmla="*/ 4638600 w 4638240"/>
              <a:gd name="textAreaTop" fmla="*/ 0 h 5154480"/>
              <a:gd name="textAreaBottom" fmla="*/ 5154840 h 5154480"/>
              <a:gd name="GluePoint1X" fmla="*/ 363179 w 6184806"/>
              <a:gd name="GluePoint1Y" fmla="*/ 3125191 h 5154967"/>
              <a:gd name="GluePoint2X" fmla="*/ 898270 w 6184806"/>
              <a:gd name="GluePoint2Y" fmla="*/ 3125191 h 5154967"/>
              <a:gd name="GluePoint3X" fmla="*/ 980326 w 6184806"/>
              <a:gd name="GluePoint3Y" fmla="*/ 3173551 h 5154967"/>
              <a:gd name="GluePoint4X" fmla="*/ 1248448 w 6184806"/>
              <a:gd name="GluePoint4Y" fmla="*/ 3635277 h 5154967"/>
              <a:gd name="GluePoint5X" fmla="*/ 1248448 w 6184806"/>
              <a:gd name="GluePoint5Y" fmla="*/ 3729695 h 5154967"/>
              <a:gd name="GluePoint6X" fmla="*/ 980326 w 6184806"/>
              <a:gd name="GluePoint6Y" fmla="*/ 4191421 h 5154967"/>
              <a:gd name="GluePoint7X" fmla="*/ 898270 w 6184806"/>
              <a:gd name="GluePoint7Y" fmla="*/ 4239781 h 5154967"/>
              <a:gd name="GluePoint8X" fmla="*/ 363179 w 6184806"/>
              <a:gd name="GluePoint8Y" fmla="*/ 4239781 h 5154967"/>
              <a:gd name="GluePoint9X" fmla="*/ 279969 w 6184806"/>
              <a:gd name="GluePoint9Y" fmla="*/ 4191421 h 5154967"/>
              <a:gd name="GluePoint10X" fmla="*/ 13002 w 6184806"/>
              <a:gd name="GluePoint10Y" fmla="*/ 3729695 h 5154967"/>
              <a:gd name="GluePoint11X" fmla="*/ 13002 w 6184806"/>
              <a:gd name="GluePoint11Y" fmla="*/ 3635277 h 5154967"/>
              <a:gd name="GluePoint12X" fmla="*/ 279969 w 6184806"/>
              <a:gd name="GluePoint12Y" fmla="*/ 3173551 h 5154967"/>
              <a:gd name="GluePoint13X" fmla="*/ 363179 w 6184806"/>
              <a:gd name="GluePoint13Y" fmla="*/ 3125191 h 5154967"/>
              <a:gd name="GluePoint14X" fmla="*/ 2489721 w 6184806"/>
              <a:gd name="GluePoint14Y" fmla="*/ 570035 h 5154967"/>
              <a:gd name="GluePoint15X" fmla="*/ 2764862 w 6184806"/>
              <a:gd name="GluePoint15Y" fmla="*/ 570035 h 5154967"/>
              <a:gd name="GluePoint16X" fmla="*/ 2796959 w 6184806"/>
              <a:gd name="GluePoint16Y" fmla="*/ 570035 h 5154967"/>
              <a:gd name="GluePoint17X" fmla="*/ 2827587 w 6184806"/>
              <a:gd name="GluePoint17Y" fmla="*/ 622777 h 5154967"/>
              <a:gd name="GluePoint18X" fmla="*/ 2977604 w 6184806"/>
              <a:gd name="GluePoint18Y" fmla="*/ 881117 h 5154967"/>
              <a:gd name="GluePoint19X" fmla="*/ 2977604 w 6184806"/>
              <a:gd name="GluePoint19Y" fmla="*/ 1025720 h 5154967"/>
              <a:gd name="GluePoint20X" fmla="*/ 2566968 w 6184806"/>
              <a:gd name="GluePoint20Y" fmla="*/ 1732863 h 5154967"/>
              <a:gd name="GluePoint21X" fmla="*/ 2441299 w 6184806"/>
              <a:gd name="GluePoint21Y" fmla="*/ 1806927 h 5154967"/>
              <a:gd name="GluePoint22X" fmla="*/ 1621798 w 6184806"/>
              <a:gd name="GluePoint22Y" fmla="*/ 1806927 h 5154967"/>
              <a:gd name="GluePoint23X" fmla="*/ 1583218 w 6184806"/>
              <a:gd name="GluePoint23Y" fmla="*/ 1801802 h 5154967"/>
              <a:gd name="GluePoint24X" fmla="*/ 1556683 w 6184806"/>
              <a:gd name="GluePoint24Y" fmla="*/ 1790677 h 5154967"/>
              <a:gd name="GluePoint25X" fmla="*/ 1572899 w 6184806"/>
              <a:gd name="GluePoint25Y" fmla="*/ 1762630 h 5154967"/>
              <a:gd name="GluePoint26X" fmla="*/ 2147429 w 6184806"/>
              <a:gd name="GluePoint26Y" fmla="*/ 768968 h 5154967"/>
              <a:gd name="GluePoint27X" fmla="*/ 2489721 w 6184806"/>
              <a:gd name="GluePoint27Y" fmla="*/ 570035 h 5154967"/>
              <a:gd name="GluePoint28X" fmla="*/ 1573268 w 6184806"/>
              <a:gd name="GluePoint28Y" fmla="*/ 0 h 5154967"/>
              <a:gd name="GluePoint29X" fmla="*/ 2497662 w 6184806"/>
              <a:gd name="GluePoint29Y" fmla="*/ 0 h 5154967"/>
              <a:gd name="GluePoint30X" fmla="*/ 2639415 w 6184806"/>
              <a:gd name="GluePoint30Y" fmla="*/ 83546 h 5154967"/>
              <a:gd name="GluePoint31X" fmla="*/ 2887862 w 6184806"/>
              <a:gd name="GluePoint31Y" fmla="*/ 511387 h 5154967"/>
              <a:gd name="GluePoint32X" fmla="*/ 2915928 w 6184806"/>
              <a:gd name="GluePoint32Y" fmla="*/ 559720 h 5154967"/>
              <a:gd name="GluePoint33X" fmla="*/ 2893844 w 6184806"/>
              <a:gd name="GluePoint33Y" fmla="*/ 559720 h 5154967"/>
              <a:gd name="GluePoint34X" fmla="*/ 2789466 w 6184806"/>
              <a:gd name="GluePoint34Y" fmla="*/ 559720 h 5154967"/>
              <a:gd name="GluePoint35X" fmla="*/ 2744122 w 6184806"/>
              <a:gd name="GluePoint35Y" fmla="*/ 481634 h 5154967"/>
              <a:gd name="GluePoint36X" fmla="*/ 2570885 w 6184806"/>
              <a:gd name="GluePoint36Y" fmla="*/ 183309 h 5154967"/>
              <a:gd name="GluePoint37X" fmla="*/ 2445216 w 6184806"/>
              <a:gd name="GluePoint37Y" fmla="*/ 109243 h 5154967"/>
              <a:gd name="GluePoint38X" fmla="*/ 1625714 w 6184806"/>
              <a:gd name="GluePoint38Y" fmla="*/ 109243 h 5154967"/>
              <a:gd name="GluePoint39X" fmla="*/ 1498276 w 6184806"/>
              <a:gd name="GluePoint39Y" fmla="*/ 183309 h 5154967"/>
              <a:gd name="GluePoint40X" fmla="*/ 1089410 w 6184806"/>
              <a:gd name="GluePoint40Y" fmla="*/ 890450 h 5154967"/>
              <a:gd name="GluePoint41X" fmla="*/ 1089410 w 6184806"/>
              <a:gd name="GluePoint41Y" fmla="*/ 1035054 h 5154967"/>
              <a:gd name="GluePoint42X" fmla="*/ 1498276 w 6184806"/>
              <a:gd name="GluePoint42Y" fmla="*/ 1742196 h 5154967"/>
              <a:gd name="GluePoint43X" fmla="*/ 1552039 w 6184806"/>
              <a:gd name="GluePoint43Y" fmla="*/ 1796422 h 5154967"/>
              <a:gd name="GluePoint44X" fmla="*/ 1558260 w 6184806"/>
              <a:gd name="GluePoint44Y" fmla="*/ 1799029 h 5154967"/>
              <a:gd name="GluePoint45X" fmla="*/ 1524911 w 6184806"/>
              <a:gd name="GluePoint45Y" fmla="*/ 1856707 h 5154967"/>
              <a:gd name="GluePoint46X" fmla="*/ 1500108 w 6184806"/>
              <a:gd name="GluePoint46Y" fmla="*/ 1899604 h 5154967"/>
              <a:gd name="GluePoint47X" fmla="*/ 1525834 w 6184806"/>
              <a:gd name="GluePoint47Y" fmla="*/ 1910390 h 5154967"/>
              <a:gd name="GluePoint48X" fmla="*/ 1569352 w 6184806"/>
              <a:gd name="GluePoint48Y" fmla="*/ 1916170 h 5154967"/>
              <a:gd name="GluePoint49X" fmla="*/ 2493745 w 6184806"/>
              <a:gd name="GluePoint49Y" fmla="*/ 1916170 h 5154967"/>
              <a:gd name="GluePoint50X" fmla="*/ 2635498 w 6184806"/>
              <a:gd name="GluePoint50Y" fmla="*/ 1832627 h 5154967"/>
              <a:gd name="GluePoint51X" fmla="*/ 3098693 w 6184806"/>
              <a:gd name="GluePoint51Y" fmla="*/ 1034974 h 5154967"/>
              <a:gd name="GluePoint52X" fmla="*/ 3098693 w 6184806"/>
              <a:gd name="GluePoint52Y" fmla="*/ 871863 h 5154967"/>
              <a:gd name="GluePoint53X" fmla="*/ 2945803 w 6184806"/>
              <a:gd name="GluePoint53Y" fmla="*/ 608576 h 5154967"/>
              <a:gd name="GluePoint54X" fmla="*/ 2923422 w 6184806"/>
              <a:gd name="GluePoint54Y" fmla="*/ 570035 h 5154967"/>
              <a:gd name="GluePoint55X" fmla="*/ 3027104 w 6184806"/>
              <a:gd name="GluePoint55Y" fmla="*/ 570035 h 5154967"/>
              <a:gd name="GluePoint56X" fmla="*/ 4690846 w 6184806"/>
              <a:gd name="GluePoint56Y" fmla="*/ 570035 h 5154967"/>
              <a:gd name="GluePoint57X" fmla="*/ 5028384 w 6184806"/>
              <a:gd name="GluePoint57Y" fmla="*/ 768968 h 5154967"/>
              <a:gd name="GluePoint58X" fmla="*/ 6131323 w 6184806"/>
              <a:gd name="GluePoint58Y" fmla="*/ 2668304 h 5154967"/>
              <a:gd name="GluePoint59X" fmla="*/ 6131323 w 6184806"/>
              <a:gd name="GluePoint59Y" fmla="*/ 3056698 h 5154967"/>
              <a:gd name="GluePoint60X" fmla="*/ 5028384 w 6184806"/>
              <a:gd name="GluePoint60Y" fmla="*/ 4956035 h 5154967"/>
              <a:gd name="GluePoint61X" fmla="*/ 4690846 w 6184806"/>
              <a:gd name="GluePoint61Y" fmla="*/ 5154967 h 5154967"/>
              <a:gd name="GluePoint62X" fmla="*/ 2489721 w 6184806"/>
              <a:gd name="GluePoint62Y" fmla="*/ 5154967 h 5154967"/>
              <a:gd name="GluePoint63X" fmla="*/ 2147429 w 6184806"/>
              <a:gd name="GluePoint63Y" fmla="*/ 4956035 h 5154967"/>
              <a:gd name="GluePoint64X" fmla="*/ 1049243 w 6184806"/>
              <a:gd name="GluePoint64Y" fmla="*/ 3056698 h 5154967"/>
              <a:gd name="GluePoint65X" fmla="*/ 1049243 w 6184806"/>
              <a:gd name="GluePoint65Y" fmla="*/ 2668304 h 5154967"/>
              <a:gd name="GluePoint66X" fmla="*/ 1457007 w 6184806"/>
              <a:gd name="GluePoint66Y" fmla="*/ 1963067 h 5154967"/>
              <a:gd name="GluePoint67X" fmla="*/ 1491373 w 6184806"/>
              <a:gd name="GluePoint67Y" fmla="*/ 1903634 h 5154967"/>
              <a:gd name="GluePoint68X" fmla="*/ 1490164 w 6184806"/>
              <a:gd name="GluePoint68Y" fmla="*/ 1903127 h 5154967"/>
              <a:gd name="GluePoint69X" fmla="*/ 1429519 w 6184806"/>
              <a:gd name="GluePoint69Y" fmla="*/ 1841960 h 5154967"/>
              <a:gd name="GluePoint70X" fmla="*/ 968320 w 6184806"/>
              <a:gd name="GluePoint70Y" fmla="*/ 1044307 h 5154967"/>
              <a:gd name="GluePoint71X" fmla="*/ 968320 w 6184806"/>
              <a:gd name="GluePoint71Y" fmla="*/ 881196 h 5154967"/>
              <a:gd name="GluePoint72X" fmla="*/ 1429519 w 6184806"/>
              <a:gd name="GluePoint72Y" fmla="*/ 83546 h 5154967"/>
              <a:gd name="GluePoint73X" fmla="*/ 1573268 w 6184806"/>
              <a:gd name="GluePoint73Y" fmla="*/ 0 h 5154967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  <a:cxn ang="0">
                <a:pos x="GluePoint33X" y="GluePoint33Y"/>
              </a:cxn>
              <a:cxn ang="0">
                <a:pos x="GluePoint34X" y="GluePoint34Y"/>
              </a:cxn>
              <a:cxn ang="0">
                <a:pos x="GluePoint35X" y="GluePoint35Y"/>
              </a:cxn>
              <a:cxn ang="0">
                <a:pos x="GluePoint36X" y="GluePoint36Y"/>
              </a:cxn>
              <a:cxn ang="0">
                <a:pos x="GluePoint37X" y="GluePoint37Y"/>
              </a:cxn>
              <a:cxn ang="0">
                <a:pos x="GluePoint38X" y="GluePoint38Y"/>
              </a:cxn>
              <a:cxn ang="0">
                <a:pos x="GluePoint39X" y="GluePoint39Y"/>
              </a:cxn>
              <a:cxn ang="0">
                <a:pos x="GluePoint40X" y="GluePoint40Y"/>
              </a:cxn>
              <a:cxn ang="0">
                <a:pos x="GluePoint41X" y="GluePoint41Y"/>
              </a:cxn>
              <a:cxn ang="0">
                <a:pos x="GluePoint42X" y="GluePoint42Y"/>
              </a:cxn>
              <a:cxn ang="0">
                <a:pos x="GluePoint43X" y="GluePoint43Y"/>
              </a:cxn>
              <a:cxn ang="0">
                <a:pos x="GluePoint44X" y="GluePoint44Y"/>
              </a:cxn>
              <a:cxn ang="0">
                <a:pos x="GluePoint45X" y="GluePoint45Y"/>
              </a:cxn>
              <a:cxn ang="0">
                <a:pos x="GluePoint46X" y="GluePoint46Y"/>
              </a:cxn>
              <a:cxn ang="0">
                <a:pos x="GluePoint47X" y="GluePoint47Y"/>
              </a:cxn>
              <a:cxn ang="0">
                <a:pos x="GluePoint48X" y="GluePoint48Y"/>
              </a:cxn>
              <a:cxn ang="0">
                <a:pos x="GluePoint49X" y="GluePoint49Y"/>
              </a:cxn>
              <a:cxn ang="0">
                <a:pos x="GluePoint50X" y="GluePoint50Y"/>
              </a:cxn>
              <a:cxn ang="0">
                <a:pos x="GluePoint51X" y="GluePoint51Y"/>
              </a:cxn>
              <a:cxn ang="0">
                <a:pos x="GluePoint52X" y="GluePoint52Y"/>
              </a:cxn>
              <a:cxn ang="0">
                <a:pos x="GluePoint53X" y="GluePoint53Y"/>
              </a:cxn>
              <a:cxn ang="0">
                <a:pos x="GluePoint54X" y="GluePoint54Y"/>
              </a:cxn>
              <a:cxn ang="0">
                <a:pos x="GluePoint55X" y="GluePoint55Y"/>
              </a:cxn>
              <a:cxn ang="0">
                <a:pos x="GluePoint56X" y="GluePoint56Y"/>
              </a:cxn>
              <a:cxn ang="0">
                <a:pos x="GluePoint57X" y="GluePoint57Y"/>
              </a:cxn>
              <a:cxn ang="0">
                <a:pos x="GluePoint58X" y="GluePoint58Y"/>
              </a:cxn>
              <a:cxn ang="0">
                <a:pos x="GluePoint59X" y="GluePoint59Y"/>
              </a:cxn>
              <a:cxn ang="0">
                <a:pos x="GluePoint60X" y="GluePoint60Y"/>
              </a:cxn>
              <a:cxn ang="0">
                <a:pos x="GluePoint61X" y="GluePoint61Y"/>
              </a:cxn>
              <a:cxn ang="0">
                <a:pos x="GluePoint62X" y="GluePoint62Y"/>
              </a:cxn>
              <a:cxn ang="0">
                <a:pos x="GluePoint63X" y="GluePoint63Y"/>
              </a:cxn>
              <a:cxn ang="0">
                <a:pos x="GluePoint64X" y="GluePoint64Y"/>
              </a:cxn>
              <a:cxn ang="0">
                <a:pos x="GluePoint65X" y="GluePoint65Y"/>
              </a:cxn>
              <a:cxn ang="0">
                <a:pos x="GluePoint66X" y="GluePoint66Y"/>
              </a:cxn>
              <a:cxn ang="0">
                <a:pos x="GluePoint67X" y="GluePoint67Y"/>
              </a:cxn>
              <a:cxn ang="0">
                <a:pos x="GluePoint68X" y="GluePoint68Y"/>
              </a:cxn>
              <a:cxn ang="0">
                <a:pos x="GluePoint69X" y="GluePoint69Y"/>
              </a:cxn>
              <a:cxn ang="0">
                <a:pos x="GluePoint70X" y="GluePoint70Y"/>
              </a:cxn>
              <a:cxn ang="0">
                <a:pos x="GluePoint71X" y="GluePoint71Y"/>
              </a:cxn>
              <a:cxn ang="0">
                <a:pos x="GluePoint72X" y="GluePoint72Y"/>
              </a:cxn>
              <a:cxn ang="0">
                <a:pos x="GluePoint73X" y="GluePoint73Y"/>
              </a:cxn>
            </a:cxnLst>
            <a:rect l="textAreaLeft" t="textAreaTop" r="textAreaRight" b="textAreaBottom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dk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8" name="Picture 4"/>
          <p:cNvPicPr/>
          <p:nvPr/>
        </p:nvPicPr>
        <p:blipFill>
          <a:blip r:embed="rId2"/>
          <a:srcRect r="59916"/>
          <a:stretch/>
        </p:blipFill>
        <p:spPr>
          <a:xfrm>
            <a:off x="6854760" y="1715760"/>
            <a:ext cx="3203280" cy="3425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PlaceHolder 1"/>
          <p:cNvSpPr>
            <a:spLocks noGrp="1"/>
          </p:cNvSpPr>
          <p:nvPr>
            <p:ph type="subTitle"/>
          </p:nvPr>
        </p:nvSpPr>
        <p:spPr>
          <a:xfrm>
            <a:off x="1245600" y="648720"/>
            <a:ext cx="8534160" cy="17521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 algn="ctr" defTabSz="457200">
              <a:lnSpc>
                <a:spcPct val="100000"/>
              </a:lnSpc>
              <a:spcBef>
                <a:spcPts val="799"/>
              </a:spcBef>
              <a:spcAft>
                <a:spcPts val="201"/>
              </a:spcAft>
              <a:buNone/>
              <a:tabLst>
                <a:tab pos="0" algn="l"/>
              </a:tabLst>
            </a:pPr>
            <a:r>
              <a:rPr lang="en-US" sz="4000" b="1" u="none" strike="noStrike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GramIntel</a:t>
            </a:r>
            <a:endParaRPr lang="en-US" sz="4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TradeGothic"/>
            </a:endParaRPr>
          </a:p>
          <a:p>
            <a:pPr indent="0" algn="ctr" defTabSz="457200">
              <a:lnSpc>
                <a:spcPct val="100000"/>
              </a:lnSpc>
              <a:spcBef>
                <a:spcPts val="360"/>
              </a:spcBef>
              <a:spcAft>
                <a:spcPts val="400"/>
              </a:spcAft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444444"/>
                </a:solidFill>
                <a:effectLst/>
                <a:uFillTx/>
                <a:latin typeface="Calibri"/>
                <a:ea typeface="ＭＳ Ｐゴシック"/>
              </a:rPr>
              <a:t>Before you borrow, understand what you're building.</a:t>
            </a:r>
            <a:endParaRPr lang="en-US" sz="18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TradeGothic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title"/>
          </p:nvPr>
        </p:nvSpPr>
        <p:spPr>
          <a:xfrm>
            <a:off x="331200" y="-526680"/>
            <a:ext cx="10362960" cy="20761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000" b="1" u="none" strike="noStrike">
                <a:solidFill>
                  <a:schemeClr val="dk2"/>
                </a:solidFill>
                <a:effectLst/>
                <a:uFillTx/>
                <a:latin typeface="Garamond"/>
                <a:ea typeface="ＭＳ Ｐゴシック"/>
              </a:rPr>
              <a:t>SMART INDIA HACKATHON 2026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71" name="TextBox 9"/>
          <p:cNvSpPr/>
          <p:nvPr/>
        </p:nvSpPr>
        <p:spPr>
          <a:xfrm>
            <a:off x="331200" y="2076480"/>
            <a:ext cx="5924160" cy="393808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1148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sz="20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</a:t>
            </a:r>
            <a:r>
              <a:rPr lang="en-US" sz="14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 </a:t>
            </a:r>
            <a:r>
              <a:rPr lang="en-US" sz="2000" b="1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Problem Statement ID – </a:t>
            </a:r>
            <a:r>
              <a:rPr lang="en-US" sz="20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26091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sz="20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2000" b="1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Problem Statement Title – </a:t>
            </a:r>
            <a:r>
              <a:rPr lang="en-US" sz="20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AI-Driven Hyper-Local Business Advisory and Financial Structuring Assistant for Rural Micro-Entrepreneurs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sz="20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2000" b="1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Ministry / Agency – </a:t>
            </a:r>
            <a:r>
              <a:rPr lang="en-US" sz="20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Ministry of Social Justice &amp; Empowerment (</a:t>
            </a:r>
            <a:r>
              <a:rPr lang="en-US" sz="2000" b="0" u="none" strike="noStrike" dirty="0" err="1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MoSJE</a:t>
            </a:r>
            <a:r>
              <a:rPr lang="en-US" sz="20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)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sz="20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2000" b="1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Theme – </a:t>
            </a:r>
            <a:r>
              <a:rPr lang="en-US" sz="20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Agriculture, </a:t>
            </a:r>
            <a:r>
              <a:rPr lang="en-US" sz="2000" b="0" u="none" strike="noStrike" dirty="0" err="1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FoodTech</a:t>
            </a:r>
            <a:r>
              <a:rPr lang="en-US" sz="20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 &amp; Rural Development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sz="20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2000" b="1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PS Category – </a:t>
            </a:r>
            <a:r>
              <a:rPr lang="en-US" sz="20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Software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sz="20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2000" b="1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Team ID – </a:t>
            </a:r>
            <a:r>
              <a:rPr lang="en-US" sz="2000" b="1" dirty="0">
                <a:solidFill>
                  <a:srgbClr val="0B5D3B"/>
                </a:solidFill>
                <a:latin typeface="Calibri"/>
                <a:ea typeface="ＭＳ Ｐゴシック"/>
              </a:rPr>
              <a:t>S-091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sz="20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2000" b="1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Team Name – </a:t>
            </a:r>
            <a:r>
              <a:rPr lang="en-US" sz="2000" b="1" u="none" strike="noStrike" dirty="0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ADAPT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" name="Picture 1"/>
          <p:cNvPicPr/>
          <p:nvPr/>
        </p:nvPicPr>
        <p:blipFill>
          <a:blip r:embed="rId3"/>
          <a:stretch/>
        </p:blipFill>
        <p:spPr>
          <a:xfrm>
            <a:off x="9780120" y="1440"/>
            <a:ext cx="2249640" cy="10620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8"/>
          <p:cNvSpPr/>
          <p:nvPr/>
        </p:nvSpPr>
        <p:spPr>
          <a:xfrm>
            <a:off x="0" y="6354720"/>
            <a:ext cx="12191760" cy="50292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st="23040" dir="5400000" rotWithShape="0">
              <a:srgbClr val="80808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accent2">
                  <a:lumMod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1737360" y="0"/>
            <a:ext cx="7863480" cy="114264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ctr" defTabSz="45720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2200" b="1" u="none" strike="noStrike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GramIntel — AI Advisor for Rural Micro-Entrepreneurs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75" name="TextBox 8"/>
          <p:cNvSpPr/>
          <p:nvPr/>
        </p:nvSpPr>
        <p:spPr>
          <a:xfrm>
            <a:off x="0" y="1188720"/>
            <a:ext cx="12191760" cy="3544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300"/>
              </a:spcBef>
              <a:spcAft>
                <a:spcPts val="99"/>
              </a:spcAft>
              <a:tabLst>
                <a:tab pos="0" algn="l"/>
              </a:tabLst>
            </a:pPr>
            <a:r>
              <a:rPr lang="en-US" sz="1600" b="1" u="none" strike="noStrike">
                <a:solidFill>
                  <a:srgbClr val="4F81BD"/>
                </a:solidFill>
                <a:effectLst/>
                <a:uFillTx/>
                <a:latin typeface="Calibri"/>
                <a:ea typeface="ＭＳ Ｐゴシック"/>
              </a:rPr>
              <a:t>1. Detailed Explanation (Prototype &amp; Core Modules)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0"/>
              </a:spcBef>
              <a:spcAft>
                <a:spcPts val="15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1600" b="1" u="none" strike="noStrike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Input Parameters: </a:t>
            </a:r>
            <a:r>
              <a:rPr lang="en-US" sz="1600" b="0" u="none" strike="noStrike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Village/Block/District location + Available Margin Capital + Proposed Category (Dairy, Retail, Poultry, Food Processing, Textiles, Services, Livestock).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0"/>
              </a:spcBef>
              <a:spcAft>
                <a:spcPts val="15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1600" b="1" u="none" strike="noStrike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Module 1 — Hyper-Local Feasibility: </a:t>
            </a:r>
            <a:r>
              <a:rPr lang="en-US" sz="1600" b="0" u="none" strike="noStrike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Evaluates 6 signals (5–10 km market reach, niche opportunity analysis, competitor density, SWOT, threats, and Agmarknet product market value).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0"/>
              </a:spcBef>
              <a:spcAft>
                <a:spcPts val="15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1600" b="1" u="none" strike="noStrike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Module 2 — Smart Scheme Calculator: </a:t>
            </a:r>
            <a:r>
              <a:rPr lang="en-US" sz="1600" b="0" u="none" strike="noStrike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10% margin → 90% loan, auto-routes Micro Finance (≤ ₹1.40L @ 6.5%) vs. Term Loan (≤ ₹50L @ 8%), quarterly EMI/moratorium schedule &amp; 3-mo opex reserve.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  <a:spcAft>
                <a:spcPts val="99"/>
              </a:spcAft>
              <a:tabLst>
                <a:tab pos="0" algn="l"/>
              </a:tabLst>
            </a:pPr>
            <a:r>
              <a:rPr lang="en-US" sz="1600" b="1" u="none" strike="noStrike">
                <a:solidFill>
                  <a:srgbClr val="4F81BD"/>
                </a:solidFill>
                <a:effectLst/>
                <a:uFillTx/>
                <a:latin typeface="Calibri"/>
                <a:ea typeface="ＭＳ Ｐゴシック"/>
              </a:rPr>
              <a:t>2. Addressing the Problem (MoSJE Mandate)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0"/>
              </a:spcBef>
              <a:spcAft>
                <a:spcPts val="15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1600" b="1" u="none" strike="noStrike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Data Over Anecdote: </a:t>
            </a:r>
            <a:r>
              <a:rPr lang="en-US" sz="1600" b="0" u="none" strike="noStrike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Replaces hearsay with authentic Census 2011 demographics, Mission Antyodaya infrastructure, and Agmarknet mandi feeds before borrowing.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  <a:spcAft>
                <a:spcPts val="99"/>
              </a:spcAft>
              <a:tabLst>
                <a:tab pos="0" algn="l"/>
              </a:tabLst>
            </a:pPr>
            <a:r>
              <a:rPr lang="en-US" sz="1600" b="1" u="none" strike="noStrike">
                <a:solidFill>
                  <a:srgbClr val="4F81BD"/>
                </a:solidFill>
                <a:effectLst/>
                <a:uFillTx/>
                <a:latin typeface="Calibri"/>
                <a:ea typeface="ＭＳ Ｐゴシック"/>
              </a:rPr>
              <a:t>3. Innovation &amp; Uniqueness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0"/>
              </a:spcBef>
              <a:spcAft>
                <a:spcPts val="15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1600" b="1" u="none" strike="noStrike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Dual-Tier Pipeline &amp; Full Loop: </a:t>
            </a:r>
            <a:r>
              <a:rPr lang="en-US" sz="1600" b="0" u="none" strike="noStrike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Multi-tiered fallback (OSM + Census/Antyodaya + Calibrated Baseline) with end-to-end applicant submission to SCA officer appraisal queue.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sldNum" idx="37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1" u="none" strike="noStrike">
                <a:solidFill>
                  <a:schemeClr val="lt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AD2F155-CFAA-4D32-ABE2-38CCCB51E4B4}" type="slidenum">
              <a:rPr lang="en-US" sz="1200" b="1" u="none" strike="noStrike">
                <a:solidFill>
                  <a:schemeClr val="lt1"/>
                </a:solidFill>
                <a:effectLst/>
                <a:uFillTx/>
                <a:latin typeface="TradeGothic"/>
                <a:ea typeface="ＭＳ Ｐゴシック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 type="ftr" idx="38"/>
          </p:nvPr>
        </p:nvSpPr>
        <p:spPr>
          <a:xfrm>
            <a:off x="4648320" y="6356520"/>
            <a:ext cx="32036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lt1"/>
                </a:solidFill>
                <a:effectLst/>
                <a:uFillTx/>
                <a:latin typeface="Trade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TradeGothic"/>
              </a:rPr>
              <a:t>@SIH Idea submission- Template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Oval 9" descr="Your startup LOGO"/>
          <p:cNvSpPr/>
          <p:nvPr/>
        </p:nvSpPr>
        <p:spPr>
          <a:xfrm>
            <a:off x="329760" y="252360"/>
            <a:ext cx="1251360" cy="807120"/>
          </a:xfrm>
          <a:prstGeom prst="ellipse">
            <a:avLst/>
          </a:prstGeom>
          <a:solidFill>
            <a:srgbClr val="FFFFFF"/>
          </a:solidFill>
          <a:ln>
            <a:solidFill>
              <a:srgbClr val="8064A2"/>
            </a:solidFill>
            <a:rou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400"/>
              </a:spcAft>
            </a:pPr>
            <a:r>
              <a:rPr lang="en-US" sz="1000" b="1" u="none" strike="noStrike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Team ADAPT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" name="Picture 10"/>
          <p:cNvPicPr/>
          <p:nvPr/>
        </p:nvPicPr>
        <p:blipFill>
          <a:blip r:embed="rId3"/>
          <a:stretch/>
        </p:blipFill>
        <p:spPr>
          <a:xfrm>
            <a:off x="9780120" y="1440"/>
            <a:ext cx="2249640" cy="106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Rounded Rectangle 15362"/>
          <p:cNvSpPr/>
          <p:nvPr/>
        </p:nvSpPr>
        <p:spPr>
          <a:xfrm>
            <a:off x="612720" y="4709160"/>
            <a:ext cx="2502720" cy="1051200"/>
          </a:xfrm>
          <a:prstGeom prst="roundRect">
            <a:avLst>
              <a:gd name="adj" fmla="val 16667"/>
            </a:avLst>
          </a:prstGeom>
          <a:solidFill>
            <a:srgbClr val="0B5D3B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ＭＳ Ｐゴシック"/>
              </a:rPr>
              <a:t>INPUTS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ＭＳ Ｐゴシック"/>
              </a:rPr>
              <a:t>Village · margin · category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5363"/>
          <p:cNvSpPr/>
          <p:nvPr/>
        </p:nvSpPr>
        <p:spPr>
          <a:xfrm>
            <a:off x="3115800" y="5001840"/>
            <a:ext cx="3196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3B75B"/>
                </a:solidFill>
                <a:effectLst/>
                <a:uFillTx/>
                <a:latin typeface="Calibri"/>
                <a:ea typeface="ＭＳ Ｐゴシック"/>
              </a:rPr>
              <a:t>▶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Rounded Rectangle 15364"/>
          <p:cNvSpPr/>
          <p:nvPr/>
        </p:nvSpPr>
        <p:spPr>
          <a:xfrm>
            <a:off x="3435840" y="4709160"/>
            <a:ext cx="2502720" cy="105120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ＭＳ Ｐゴシック"/>
              </a:rPr>
              <a:t>MODULE 1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ＭＳ Ｐゴシック"/>
              </a:rPr>
              <a:t>6-signal feasibility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5365"/>
          <p:cNvSpPr/>
          <p:nvPr/>
        </p:nvSpPr>
        <p:spPr>
          <a:xfrm>
            <a:off x="5938920" y="5001840"/>
            <a:ext cx="3196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3B75B"/>
                </a:solidFill>
                <a:effectLst/>
                <a:uFillTx/>
                <a:latin typeface="Calibri"/>
                <a:ea typeface="ＭＳ Ｐゴシック"/>
              </a:rPr>
              <a:t>▶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Rounded Rectangle 15366"/>
          <p:cNvSpPr/>
          <p:nvPr/>
        </p:nvSpPr>
        <p:spPr>
          <a:xfrm>
            <a:off x="6258960" y="4709160"/>
            <a:ext cx="2502720" cy="1051200"/>
          </a:xfrm>
          <a:prstGeom prst="roundRect">
            <a:avLst>
              <a:gd name="adj" fmla="val 16667"/>
            </a:avLst>
          </a:prstGeom>
          <a:solidFill>
            <a:srgbClr val="F7964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ＭＳ Ｐゴシック"/>
              </a:rPr>
              <a:t>MODULE 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ＭＳ Ｐゴシック"/>
              </a:rPr>
              <a:t>Scheme + EMI math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5367"/>
          <p:cNvSpPr/>
          <p:nvPr/>
        </p:nvSpPr>
        <p:spPr>
          <a:xfrm>
            <a:off x="8762400" y="5001840"/>
            <a:ext cx="3196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3B75B"/>
                </a:solidFill>
                <a:effectLst/>
                <a:uFillTx/>
                <a:latin typeface="Calibri"/>
                <a:ea typeface="ＭＳ Ｐゴシック"/>
              </a:rPr>
              <a:t>▶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Rounded Rectangle 15368"/>
          <p:cNvSpPr/>
          <p:nvPr/>
        </p:nvSpPr>
        <p:spPr>
          <a:xfrm>
            <a:off x="9082440" y="4709160"/>
            <a:ext cx="2502720" cy="1051200"/>
          </a:xfrm>
          <a:prstGeom prst="roundRect">
            <a:avLst>
              <a:gd name="adj" fmla="val 16667"/>
            </a:avLst>
          </a:prstGeom>
          <a:solidFill>
            <a:srgbClr val="9BBB5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ＭＳ Ｐゴシック"/>
              </a:rPr>
              <a:t>DECISION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ＭＳ Ｐゴシック"/>
              </a:rPr>
              <a:t>Officer approves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9"/>
          <p:cNvSpPr/>
          <p:nvPr/>
        </p:nvSpPr>
        <p:spPr>
          <a:xfrm>
            <a:off x="0" y="6354720"/>
            <a:ext cx="12191760" cy="50292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st="23040" dir="5400000" rotWithShape="0">
              <a:srgbClr val="80808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accent2">
                  <a:lumMod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ＭＳ Ｐゴシック"/>
              </a:rPr>
              <a:t>TECHNICAL APPROACH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89" name="TextBox 8"/>
          <p:cNvSpPr/>
          <p:nvPr/>
        </p:nvSpPr>
        <p:spPr>
          <a:xfrm>
            <a:off x="612720" y="1188720"/>
            <a:ext cx="6034680" cy="3581578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300"/>
              </a:spcBef>
              <a:spcAft>
                <a:spcPts val="99"/>
              </a:spcAft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4F81BD"/>
                </a:solidFill>
                <a:effectLst/>
                <a:uFillTx/>
                <a:latin typeface="Calibri"/>
                <a:ea typeface="ＭＳ Ｐゴシック"/>
              </a:rPr>
              <a:t>Technologies Used (4-Layer Modular Stack)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0"/>
              </a:spcBef>
              <a:spcAft>
                <a:spcPts val="150"/>
              </a:spcAft>
              <a:tabLst>
                <a:tab pos="0" algn="l"/>
              </a:tabLst>
            </a:pPr>
            <a:r>
              <a:rPr lang="en-US" sz="13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1300" b="1" u="none" strike="noStrike" dirty="0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Client Layer: </a:t>
            </a:r>
            <a:r>
              <a:rPr lang="en-US" sz="13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Next.js 14 App Router, React 18, TypeScript 5.7, Tailwind CSS, </a:t>
            </a:r>
            <a:r>
              <a:rPr lang="en-US" sz="1300" b="0" u="none" strike="noStrike" dirty="0" err="1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MapLibre</a:t>
            </a:r>
            <a:r>
              <a:rPr lang="en-US" sz="13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 GL 5.6 (pinned), Framer Motion, Lenis.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0"/>
              </a:spcBef>
              <a:spcAft>
                <a:spcPts val="150"/>
              </a:spcAft>
              <a:tabLst>
                <a:tab pos="0" algn="l"/>
              </a:tabLst>
            </a:pPr>
            <a:r>
              <a:rPr lang="en-US" sz="13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1300" b="1" u="none" strike="noStrike" dirty="0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Gateway &amp; Services: </a:t>
            </a:r>
            <a:r>
              <a:rPr lang="en-US" sz="13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Next.js Proxy, </a:t>
            </a:r>
            <a:r>
              <a:rPr lang="en-US" sz="1300" b="0" u="none" strike="noStrike" dirty="0" err="1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FastAPI</a:t>
            </a:r>
            <a:r>
              <a:rPr lang="en-US" sz="13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, </a:t>
            </a:r>
            <a:r>
              <a:rPr lang="en-US" sz="1300" b="0" u="none" strike="noStrike" dirty="0" err="1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SQLModel</a:t>
            </a:r>
            <a:r>
              <a:rPr lang="en-US" sz="13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/SQLite (zero-ops sync), JWT OTP + Google OAuth with server-side allowlist RBAC.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0"/>
              </a:spcBef>
              <a:spcAft>
                <a:spcPts val="150"/>
              </a:spcAft>
              <a:tabLst>
                <a:tab pos="0" algn="l"/>
              </a:tabLst>
            </a:pPr>
            <a:r>
              <a:rPr lang="en-US" sz="13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1300" b="1" u="none" strike="noStrike" dirty="0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AI &amp; Spatial Pipeline: </a:t>
            </a:r>
            <a:r>
              <a:rPr lang="en-US" sz="1300" b="0" u="none" strike="noStrike" dirty="0" err="1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Groq</a:t>
            </a:r>
            <a:r>
              <a:rPr lang="en-US" sz="13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 LPU (</a:t>
            </a:r>
            <a:r>
              <a:rPr lang="en-US" sz="1300" b="0" u="none" strike="noStrike" dirty="0" err="1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openai</a:t>
            </a:r>
            <a:r>
              <a:rPr lang="en-US" sz="13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/gpt-oss-20b for trilingual narratives &amp; SSE advisor), Overpass API (OSM live shops) with dual-endpoint retries.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0"/>
              </a:spcBef>
              <a:spcAft>
                <a:spcPts val="150"/>
              </a:spcAft>
              <a:tabLst>
                <a:tab pos="0" algn="l"/>
              </a:tabLst>
            </a:pPr>
            <a:r>
              <a:rPr lang="en-US" sz="13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1300" b="1" u="none" strike="noStrike" dirty="0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Data Foundation: </a:t>
            </a:r>
            <a:r>
              <a:rPr lang="en-US" sz="13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Integrated Census 2011 PCA, Mission </a:t>
            </a:r>
            <a:r>
              <a:rPr lang="en-US" sz="1300" b="0" u="none" strike="noStrike" dirty="0" err="1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Antyodaya</a:t>
            </a:r>
            <a:r>
              <a:rPr lang="en-US" sz="13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 2020 rural infrastructure, and </a:t>
            </a:r>
            <a:r>
              <a:rPr lang="en-US" sz="1300" b="0" u="none" strike="noStrike" dirty="0" err="1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Agmarknet</a:t>
            </a:r>
            <a:r>
              <a:rPr lang="en-US" sz="13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 commodity pricing datasets.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  <a:spcAft>
                <a:spcPts val="99"/>
              </a:spcAft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4F81BD"/>
                </a:solidFill>
                <a:effectLst/>
                <a:uFillTx/>
                <a:latin typeface="Calibri"/>
                <a:ea typeface="ＭＳ Ｐゴシック"/>
              </a:rPr>
              <a:t>Methodology &amp; Implementation Process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0"/>
              </a:spcBef>
              <a:spcAft>
                <a:spcPts val="150"/>
              </a:spcAft>
              <a:tabLst>
                <a:tab pos="0" algn="l"/>
              </a:tabLst>
            </a:pPr>
            <a:r>
              <a:rPr lang="en-US" sz="13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1300" b="1" u="none" strike="noStrike" dirty="0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1.</a:t>
            </a:r>
            <a:r>
              <a:rPr lang="en-US" sz="1300" b="1" dirty="0">
                <a:solidFill>
                  <a:srgbClr val="0B5D3B"/>
                </a:solidFill>
                <a:latin typeface="Calibri"/>
                <a:ea typeface="ＭＳ Ｐゴシック"/>
              </a:rPr>
              <a:t>Deterministic Financial Engine</a:t>
            </a:r>
            <a:r>
              <a:rPr lang="en-US" sz="1300" b="1" u="none" strike="noStrike" dirty="0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: </a:t>
            </a:r>
            <a:r>
              <a:rPr lang="en-US" sz="13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Deterministic financial &amp; feasibility math strictly verified with 56 automated </a:t>
            </a:r>
            <a:r>
              <a:rPr lang="en-US" sz="1300" b="0" u="none" strike="noStrike" dirty="0" err="1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pytest</a:t>
            </a:r>
            <a:r>
              <a:rPr lang="en-US" sz="13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 unit/integration tests.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0"/>
              </a:spcBef>
              <a:spcAft>
                <a:spcPts val="150"/>
              </a:spcAft>
              <a:tabLst>
                <a:tab pos="0" algn="l"/>
              </a:tabLst>
            </a:pPr>
            <a:r>
              <a:rPr lang="en-US" sz="13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1300" b="1" u="none" strike="noStrike" dirty="0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2. Ground-Truth Ingestion: </a:t>
            </a:r>
            <a:r>
              <a:rPr lang="en-US" sz="13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Directly computes consumer volume and monthly demand from village household counts and category spend benchmarks.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0"/>
              </a:spcBef>
              <a:spcAft>
                <a:spcPts val="150"/>
              </a:spcAft>
              <a:tabLst>
                <a:tab pos="0" algn="l"/>
              </a:tabLst>
            </a:pPr>
            <a:r>
              <a:rPr lang="en-US" sz="13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1300" b="1" u="none" strike="noStrike" dirty="0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3. Multi-Tier Resilience: </a:t>
            </a:r>
            <a:r>
              <a:rPr lang="en-IN" sz="1400" dirty="0"/>
              <a:t>Resilient operation with pre-seeded regional fallbacks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sldNum" idx="39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1" u="none" strike="noStrike">
                <a:solidFill>
                  <a:schemeClr val="lt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C10BF86-2CF6-4D41-9D98-E9D47008B665}" type="slidenum">
              <a:rPr lang="en-US" sz="1200" b="1" u="none" strike="noStrike">
                <a:solidFill>
                  <a:schemeClr val="lt1"/>
                </a:solidFill>
                <a:effectLst/>
                <a:uFillTx/>
                <a:latin typeface="TradeGothic"/>
                <a:ea typeface="ＭＳ Ｐゴシック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ftr" idx="40"/>
          </p:nvPr>
        </p:nvSpPr>
        <p:spPr>
          <a:xfrm>
            <a:off x="4648320" y="6356520"/>
            <a:ext cx="32036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lt1"/>
                </a:solidFill>
                <a:effectLst/>
                <a:uFillTx/>
                <a:latin typeface="Trade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TradeGothic"/>
              </a:rPr>
              <a:t>@SIH Idea submission- Template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Oval 10" descr="Your startup LOGO"/>
          <p:cNvSpPr/>
          <p:nvPr/>
        </p:nvSpPr>
        <p:spPr>
          <a:xfrm>
            <a:off x="329760" y="252360"/>
            <a:ext cx="1251360" cy="807120"/>
          </a:xfrm>
          <a:prstGeom prst="ellipse">
            <a:avLst/>
          </a:prstGeom>
          <a:solidFill>
            <a:srgbClr val="FFFFFF"/>
          </a:solidFill>
          <a:ln>
            <a:solidFill>
              <a:srgbClr val="8064A2"/>
            </a:solidFill>
            <a:rou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400"/>
              </a:spcAft>
            </a:pPr>
            <a:r>
              <a:rPr lang="en-US" sz="1000" b="1" u="none" strike="noStrike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Team ADAPT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3" name="Picture 11"/>
          <p:cNvPicPr/>
          <p:nvPr/>
        </p:nvPicPr>
        <p:blipFill>
          <a:blip r:embed="rId3"/>
          <a:stretch/>
        </p:blipFill>
        <p:spPr>
          <a:xfrm>
            <a:off x="9780120" y="1440"/>
            <a:ext cx="2249640" cy="1062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4" name="Picture 17410" descr="shot-portal.png"/>
          <p:cNvPicPr/>
          <p:nvPr/>
        </p:nvPicPr>
        <p:blipFill>
          <a:blip r:embed="rId4"/>
          <a:stretch/>
        </p:blipFill>
        <p:spPr>
          <a:xfrm>
            <a:off x="6903720" y="1188720"/>
            <a:ext cx="4663080" cy="307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extBox 17411"/>
          <p:cNvSpPr/>
          <p:nvPr/>
        </p:nvSpPr>
        <p:spPr>
          <a:xfrm>
            <a:off x="6903720" y="4343400"/>
            <a:ext cx="46630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1" u="none" strike="noStrike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56 tests green · next build green · Verified Gov Datasets + PS math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Rounded Rectangle 17412"/>
          <p:cNvSpPr/>
          <p:nvPr/>
        </p:nvSpPr>
        <p:spPr>
          <a:xfrm>
            <a:off x="612720" y="5120640"/>
            <a:ext cx="3443760" cy="1051200"/>
          </a:xfrm>
          <a:prstGeom prst="roundRect">
            <a:avLst>
              <a:gd name="adj" fmla="val 16667"/>
            </a:avLst>
          </a:prstGeom>
          <a:solidFill>
            <a:srgbClr val="0B5D3B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ＭＳ Ｐゴシック"/>
              </a:rPr>
              <a:t>GOV DATASETS &amp; OSM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chemeClr val="lt1"/>
                </a:solidFill>
                <a:effectLst/>
                <a:uFillTx/>
                <a:latin typeface="Calibri"/>
                <a:ea typeface="ＭＳ Ｐゴシック"/>
              </a:rPr>
              <a:t>Census · Antyodaya · Agmarknet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17413"/>
          <p:cNvSpPr/>
          <p:nvPr/>
        </p:nvSpPr>
        <p:spPr>
          <a:xfrm>
            <a:off x="4056840" y="5413320"/>
            <a:ext cx="3196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3B75B"/>
                </a:solidFill>
                <a:effectLst/>
                <a:uFillTx/>
                <a:latin typeface="Calibri"/>
                <a:ea typeface="ＭＳ Ｐゴシック"/>
              </a:rPr>
              <a:t>▶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Rounded Rectangle 17414"/>
          <p:cNvSpPr/>
          <p:nvPr/>
        </p:nvSpPr>
        <p:spPr>
          <a:xfrm>
            <a:off x="4376880" y="5120640"/>
            <a:ext cx="3443760" cy="105120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ＭＳ Ｐゴシック"/>
              </a:rPr>
              <a:t>FASTAPI ENGINE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ＭＳ Ｐゴシック"/>
              </a:rPr>
              <a:t>Groq EN/</a:t>
            </a:r>
            <a:r>
              <a:rPr lang="hi-IN" sz="1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हिं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ＭＳ Ｐゴシック"/>
              </a:rPr>
              <a:t>/</a:t>
            </a:r>
            <a:r>
              <a:rPr lang="hi-IN" sz="1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తె 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ＭＳ Ｐゴシック"/>
              </a:rPr>
              <a:t>+ EMI math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17415"/>
          <p:cNvSpPr/>
          <p:nvPr/>
        </p:nvSpPr>
        <p:spPr>
          <a:xfrm>
            <a:off x="7821000" y="5413320"/>
            <a:ext cx="3196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3B75B"/>
                </a:solidFill>
                <a:effectLst/>
                <a:uFillTx/>
                <a:latin typeface="Calibri"/>
                <a:ea typeface="ＭＳ Ｐゴシック"/>
              </a:rPr>
              <a:t>▶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Rounded Rectangle 17416"/>
          <p:cNvSpPr/>
          <p:nvPr/>
        </p:nvSpPr>
        <p:spPr>
          <a:xfrm>
            <a:off x="8141040" y="5120640"/>
            <a:ext cx="3443760" cy="1051200"/>
          </a:xfrm>
          <a:prstGeom prst="roundRect">
            <a:avLst>
              <a:gd name="adj" fmla="val 16667"/>
            </a:avLst>
          </a:prstGeom>
          <a:solidFill>
            <a:srgbClr val="9BBB5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ＭＳ Ｐゴシック"/>
              </a:rPr>
              <a:t>APPS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ＭＳ Ｐゴシック"/>
              </a:rPr>
              <a:t>/assistant + /portal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angle 9"/>
          <p:cNvSpPr/>
          <p:nvPr/>
        </p:nvSpPr>
        <p:spPr>
          <a:xfrm>
            <a:off x="0" y="6354720"/>
            <a:ext cx="12191760" cy="50292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st="23040" dir="5400000" rotWithShape="0">
              <a:srgbClr val="80808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953735"/>
              </a:solidFill>
              <a:effectLst/>
              <a:uFillTx/>
              <a:latin typeface="Calibri"/>
            </a:endParaRPr>
          </a:p>
        </p:txBody>
      </p:sp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ＭＳ Ｐゴシック"/>
              </a:rPr>
              <a:t>FEASIBILITY AND VIABILITY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103" name="TextBox 8"/>
          <p:cNvSpPr/>
          <p:nvPr/>
        </p:nvSpPr>
        <p:spPr>
          <a:xfrm>
            <a:off x="609480" y="1095120"/>
            <a:ext cx="10972440" cy="17186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300"/>
              </a:spcBef>
              <a:spcAft>
                <a:spcPts val="99"/>
              </a:spcAft>
              <a:tabLst>
                <a:tab pos="0" algn="l"/>
              </a:tabLst>
            </a:pPr>
            <a:r>
              <a:rPr lang="en-US" sz="1200" b="1" u="none" strike="noStrike">
                <a:solidFill>
                  <a:srgbClr val="4F81BD"/>
                </a:solidFill>
                <a:effectLst/>
                <a:uFillTx/>
                <a:latin typeface="Calibri"/>
                <a:ea typeface="ＭＳ Ｐゴシック"/>
              </a:rPr>
              <a:t>Analysis of Feasibility (Technical, Operational &amp; Financial)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0"/>
              </a:spcBef>
              <a:spcAft>
                <a:spcPts val="150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1200" b="1" u="none" strike="noStrike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Technical Feasibility: </a:t>
            </a:r>
            <a:r>
              <a:rPr lang="en-US" sz="1200" b="0" u="none" strike="noStrike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Lightweight commodity stack (Next.js 14 + FastAPI + SQLite), single-image deployment (Vercel + Render), zero-ops maintenance.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0"/>
              </a:spcBef>
              <a:spcAft>
                <a:spcPts val="150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1200" b="1" u="none" strike="noStrike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Operational Feasibility: </a:t>
            </a:r>
            <a:r>
              <a:rPr lang="en-US" sz="1200" b="0" u="none" strike="noStrike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Trilingual vernacular interface (EN/</a:t>
            </a:r>
            <a:r>
              <a:rPr lang="hi-IN" sz="1200" b="0" u="none" strike="noStrike">
                <a:solidFill>
                  <a:srgbClr val="0F1A14"/>
                </a:solidFill>
                <a:effectLst/>
                <a:uFillTx/>
                <a:latin typeface="Calibri"/>
              </a:rPr>
              <a:t>हिं</a:t>
            </a:r>
            <a:r>
              <a:rPr lang="en-US" sz="1200" b="0" u="none" strike="noStrike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/</a:t>
            </a:r>
            <a:r>
              <a:rPr lang="hi-IN" sz="1200" b="0" u="none" strike="noStrike">
                <a:solidFill>
                  <a:srgbClr val="0F1A14"/>
                </a:solidFill>
                <a:effectLst/>
                <a:uFillTx/>
                <a:latin typeface="Calibri"/>
              </a:rPr>
              <a:t>తె</a:t>
            </a:r>
            <a:r>
              <a:rPr lang="en-US" sz="1200" b="0" u="none" strike="noStrike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) with simple OTP auth, removing digital and language literacy hurdles for rural beneficiaries.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0"/>
              </a:spcBef>
              <a:spcAft>
                <a:spcPts val="150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1200" b="1" u="none" strike="noStrike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Financial Viability: </a:t>
            </a:r>
            <a:r>
              <a:rPr lang="en-US" sz="1200" b="0" u="none" strike="noStrike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Aligned with MoSJE/NBCFDC/NSFDC scheme rules; computes 3-mo opex reserve + 10% contingency to safeguard borrower liquidity.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  <a:spcAft>
                <a:spcPts val="99"/>
              </a:spcAft>
              <a:tabLst>
                <a:tab pos="0" algn="l"/>
              </a:tabLst>
            </a:pPr>
            <a:r>
              <a:rPr lang="en-US" sz="1200" b="1" u="none" strike="noStrike">
                <a:solidFill>
                  <a:srgbClr val="4F81BD"/>
                </a:solidFill>
                <a:effectLst/>
                <a:uFillTx/>
                <a:latin typeface="Calibri"/>
                <a:ea typeface="ＭＳ Ｐゴシック"/>
              </a:rPr>
              <a:t>Potential Challenges, Risks &amp; Mitigation Strategies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 type="sldNum" idx="41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1" u="none" strike="noStrike">
                <a:solidFill>
                  <a:srgbClr val="FFFFFF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A659000-C9A4-4D2A-9576-ACDA774D3522}" type="slidenum"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TradeGothic"/>
                <a:ea typeface="ＭＳ Ｐゴシック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 type="ftr" idx="42"/>
          </p:nvPr>
        </p:nvSpPr>
        <p:spPr>
          <a:xfrm>
            <a:off x="4648320" y="6356520"/>
            <a:ext cx="32036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FFFFFF"/>
                </a:solidFill>
                <a:effectLst/>
                <a:uFillTx/>
                <a:latin typeface="Trade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TradeGothic"/>
              </a:rPr>
              <a:t>@SIH Idea submission- Template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Oval 11" descr="Your startup LOGO"/>
          <p:cNvSpPr/>
          <p:nvPr/>
        </p:nvSpPr>
        <p:spPr>
          <a:xfrm>
            <a:off x="329760" y="252360"/>
            <a:ext cx="1251360" cy="807120"/>
          </a:xfrm>
          <a:prstGeom prst="ellipse">
            <a:avLst/>
          </a:prstGeom>
          <a:solidFill>
            <a:srgbClr val="FFFFFF"/>
          </a:solidFill>
          <a:ln>
            <a:solidFill>
              <a:srgbClr val="8064A2"/>
            </a:solidFill>
            <a:rou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400"/>
              </a:spcAft>
            </a:pPr>
            <a:r>
              <a:rPr lang="en-US" sz="1000" b="1" u="none" strike="noStrike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Team ADAPT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" name="Picture 10"/>
          <p:cNvPicPr/>
          <p:nvPr/>
        </p:nvPicPr>
        <p:blipFill>
          <a:blip r:embed="rId3"/>
          <a:stretch/>
        </p:blipFill>
        <p:spPr>
          <a:xfrm>
            <a:off x="9780120" y="1440"/>
            <a:ext cx="2249640" cy="106200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108" name="Table 17410"/>
          <p:cNvGraphicFramePr/>
          <p:nvPr/>
        </p:nvGraphicFramePr>
        <p:xfrm>
          <a:off x="612720" y="2606040"/>
          <a:ext cx="10972800" cy="306180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236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Risk / Challenge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B5D3B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Mitigation strategy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B5D3B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Status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B5D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36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Unreliable rural connectivity / venue WiFi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Dual-endpoint Overpass retries, localStorage caching, pre-seeded demographic fallbacks; zero blank UI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Built ✓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6F1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36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Data sparsity in remote unsurveyed villages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Grounded in Census 2011 PCA &amp; Mission Antyodaya village infrastructure (co-ops, banks, haats, power)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Built ✓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36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Groq / External AI service outage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Template narrative fallbacks (EN/</a:t>
                      </a:r>
                      <a:r>
                        <a:rPr lang="hi-IN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हिं</a:t>
                      </a: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/</a:t>
                      </a:r>
                      <a:r>
                        <a:rPr lang="hi-IN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తె</a:t>
                      </a: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) + offline case chat advisor; portal never blocks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Built ✓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6F1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36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Working capital depletion &amp; gestation lag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Built-in financial safety buffer: computes 3-month operating expenses + 10% contingency into project cost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Built ✓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Rectangle 9"/>
          <p:cNvSpPr/>
          <p:nvPr/>
        </p:nvSpPr>
        <p:spPr>
          <a:xfrm>
            <a:off x="0" y="6354720"/>
            <a:ext cx="12191760" cy="50292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st="23040" dir="5400000" rotWithShape="0">
              <a:srgbClr val="80808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953735"/>
              </a:solidFill>
              <a:effectLst/>
              <a:uFillTx/>
              <a:latin typeface="Calibri"/>
            </a:endParaRPr>
          </a:p>
        </p:txBody>
      </p:sp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ＭＳ Ｐゴシック"/>
              </a:rPr>
              <a:t>IMPACT AND BENEFITS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612720" y="1188720"/>
            <a:ext cx="5394600" cy="343368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300"/>
              </a:spcBef>
              <a:spcAft>
                <a:spcPts val="99"/>
              </a:spcAft>
              <a:tabLst>
                <a:tab pos="0" algn="l"/>
              </a:tabLst>
            </a:pPr>
            <a:r>
              <a:rPr lang="en-US" sz="1200" b="1" u="none" strike="noStrike">
                <a:solidFill>
                  <a:srgbClr val="4F81BD"/>
                </a:solidFill>
                <a:effectLst/>
                <a:uFillTx/>
                <a:latin typeface="Calibri"/>
                <a:ea typeface="ＭＳ Ｐゴシック"/>
              </a:rPr>
              <a:t>Potential Impact on Target Audience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0"/>
              </a:spcBef>
              <a:spcAft>
                <a:spcPts val="150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1200" b="1" u="none" strike="noStrike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Transparent Financial Structuring: </a:t>
            </a:r>
            <a:r>
              <a:rPr lang="en-US" sz="1200" b="0" u="none" strike="noStrike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₹1,00,000 margin → ₹10,00,000 project → ₹9,00,000 loan (TERM @ 8%, ₹14,028/mo EMI) clearly structured before borrowing.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0"/>
              </a:spcBef>
              <a:spcAft>
                <a:spcPts val="150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1200" b="1" u="none" strike="noStrike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Reduces Enterprise Failure Rate: </a:t>
            </a:r>
            <a:r>
              <a:rPr lang="en-US" sz="1200" b="0" u="none" strike="noStrike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Entrepreneurs choose viable ventures backed by Census population &amp; Agmarknet demand (e.g. 14,230 pop &amp; ₹53.5L/mo demand in Chevella).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  <a:spcAft>
                <a:spcPts val="99"/>
              </a:spcAft>
              <a:tabLst>
                <a:tab pos="0" algn="l"/>
              </a:tabLst>
            </a:pPr>
            <a:r>
              <a:rPr lang="en-US" sz="1200" b="1" u="none" strike="noStrike">
                <a:solidFill>
                  <a:srgbClr val="4F81BD"/>
                </a:solidFill>
                <a:effectLst/>
                <a:uFillTx/>
                <a:latin typeface="Calibri"/>
                <a:ea typeface="ＭＳ Ｐゴシック"/>
              </a:rPr>
              <a:t>Social, Economic &amp; Governance Benefits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0"/>
              </a:spcBef>
              <a:spcAft>
                <a:spcPts val="150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1200" b="1" u="none" strike="noStrike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Economic (SCA Default Reduction): </a:t>
            </a:r>
            <a:r>
              <a:rPr lang="en-US" sz="1200" b="0" u="none" strike="noStrike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Drastically lowers non-performing assets (NPAs) for State Channelising Agencies by directing credit to underserved niches.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0"/>
              </a:spcBef>
              <a:spcAft>
                <a:spcPts val="150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1200" b="1" u="none" strike="noStrike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Social Inclusion &amp; Empowerment: </a:t>
            </a:r>
            <a:r>
              <a:rPr lang="en-US" sz="1200" b="0" u="none" strike="noStrike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Empowers rural youth, women artisans (Mahila Samriddhi &amp; Swarnima schemes), and grassroots SHGs through vernacular guidance.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0"/>
              </a:spcBef>
              <a:spcAft>
                <a:spcPts val="150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1200" b="1" u="none" strike="noStrike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Governance Acceleration: </a:t>
            </a:r>
            <a:r>
              <a:rPr lang="en-US" sz="1200" b="0" u="none" strike="noStrike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Shrinks appraisal turnaround from weeks of paperwork to 4 minutes with streaming AI case advisor &amp; audit history.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sldNum" idx="43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1" u="none" strike="noStrike">
                <a:solidFill>
                  <a:srgbClr val="FFFFFF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0F16941-6C9B-40DB-8D7B-A06431FF96D2}" type="slidenum"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TradeGothic"/>
                <a:ea typeface="ＭＳ Ｐゴシック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 type="ftr" idx="44"/>
          </p:nvPr>
        </p:nvSpPr>
        <p:spPr>
          <a:xfrm>
            <a:off x="4648320" y="6356520"/>
            <a:ext cx="32036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FFFFFF"/>
                </a:solidFill>
                <a:effectLst/>
                <a:uFillTx/>
                <a:latin typeface="Trade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TradeGothic"/>
              </a:rPr>
              <a:t>@SIH Idea submission- Template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Oval 11" descr="Your startup LOGO"/>
          <p:cNvSpPr/>
          <p:nvPr/>
        </p:nvSpPr>
        <p:spPr>
          <a:xfrm>
            <a:off x="329760" y="252360"/>
            <a:ext cx="1251360" cy="807120"/>
          </a:xfrm>
          <a:prstGeom prst="ellipse">
            <a:avLst/>
          </a:prstGeom>
          <a:solidFill>
            <a:srgbClr val="FFFFFF"/>
          </a:solidFill>
          <a:ln>
            <a:solidFill>
              <a:srgbClr val="8064A2"/>
            </a:solidFill>
            <a:rou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400"/>
              </a:spcAft>
            </a:pPr>
            <a:r>
              <a:rPr lang="en-US" sz="1000" b="1" u="none" strike="noStrike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Team ADAPT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Picture 10"/>
          <p:cNvPicPr/>
          <p:nvPr/>
        </p:nvPicPr>
        <p:blipFill>
          <a:blip r:embed="rId3"/>
          <a:stretch/>
        </p:blipFill>
        <p:spPr>
          <a:xfrm>
            <a:off x="9780120" y="1440"/>
            <a:ext cx="2249640" cy="1062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6" name="Picture 17410" descr="shot-assistant.png"/>
          <p:cNvPicPr/>
          <p:nvPr/>
        </p:nvPicPr>
        <p:blipFill>
          <a:blip r:embed="rId4"/>
          <a:stretch/>
        </p:blipFill>
        <p:spPr>
          <a:xfrm>
            <a:off x="6263640" y="1188720"/>
            <a:ext cx="5303160" cy="349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TextBox 17411"/>
          <p:cNvSpPr/>
          <p:nvPr/>
        </p:nvSpPr>
        <p:spPr>
          <a:xfrm>
            <a:off x="6263640" y="4754880"/>
            <a:ext cx="53031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spcAft>
                <a:spcPts val="400"/>
              </a:spcAft>
            </a:pPr>
            <a:r>
              <a:rPr lang="en-US" sz="900" b="1" u="none" strike="noStrike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Live analysis: Census verified · viability 78/100 · quarterly EMI &amp; working capital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17412"/>
          <p:cNvSpPr/>
          <p:nvPr/>
        </p:nvSpPr>
        <p:spPr>
          <a:xfrm>
            <a:off x="612720" y="4498920"/>
            <a:ext cx="53946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1" u="none" strike="noStrike">
                <a:solidFill>
                  <a:srgbClr val="4F81BD"/>
                </a:solidFill>
                <a:effectLst/>
                <a:uFillTx/>
                <a:latin typeface="Calibri"/>
                <a:ea typeface="ＭＳ Ｐゴシック"/>
              </a:rPr>
              <a:t>Automated Scheme Router (PS-Verbatim Rules):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Rounded Rectangle 17413"/>
          <p:cNvSpPr/>
          <p:nvPr/>
        </p:nvSpPr>
        <p:spPr>
          <a:xfrm>
            <a:off x="612720" y="4846320"/>
            <a:ext cx="2605680" cy="1005480"/>
          </a:xfrm>
          <a:prstGeom prst="roundRect">
            <a:avLst>
              <a:gd name="adj" fmla="val 16667"/>
            </a:avLst>
          </a:prstGeom>
          <a:solidFill>
            <a:srgbClr val="0B5D3B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ＭＳ Ｐゴシック"/>
              </a:rPr>
              <a:t>MICRO ≤ ₹1.40L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ＭＳ Ｐゴシック"/>
              </a:rPr>
              <a:t>6.5% · 3 yr · 3-mo moratorium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Rounded Rectangle 17414"/>
          <p:cNvSpPr/>
          <p:nvPr/>
        </p:nvSpPr>
        <p:spPr>
          <a:xfrm>
            <a:off x="3401640" y="4846320"/>
            <a:ext cx="2605680" cy="1005480"/>
          </a:xfrm>
          <a:prstGeom prst="roundRect">
            <a:avLst>
              <a:gd name="adj" fmla="val 16667"/>
            </a:avLst>
          </a:prstGeom>
          <a:solidFill>
            <a:srgbClr val="F7964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ＭＳ Ｐゴシック"/>
              </a:rPr>
              <a:t>TERM ₹1.40–50L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ＭＳ Ｐゴシック"/>
              </a:rPr>
              <a:t>8% · 7 yr · 6-mo moratorium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Rectangle 9"/>
          <p:cNvSpPr/>
          <p:nvPr/>
        </p:nvSpPr>
        <p:spPr>
          <a:xfrm>
            <a:off x="0" y="6354720"/>
            <a:ext cx="12191760" cy="50292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st="23040" dir="5400000" rotWithShape="0">
              <a:srgbClr val="80808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953735"/>
              </a:solidFill>
              <a:effectLst/>
              <a:uFillTx/>
              <a:latin typeface="Calibri"/>
            </a:endParaRPr>
          </a:p>
        </p:txBody>
      </p:sp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ＭＳ Ｐゴシック"/>
              </a:rPr>
              <a:t>RESEARCH  AND REFERENCES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123" name="TextBox 8"/>
          <p:cNvSpPr/>
          <p:nvPr/>
        </p:nvSpPr>
        <p:spPr>
          <a:xfrm>
            <a:off x="612720" y="1188720"/>
            <a:ext cx="10972440" cy="3671346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150"/>
              </a:spcBef>
              <a:spcAft>
                <a:spcPts val="150"/>
              </a:spcAft>
              <a:tabLst>
                <a:tab pos="0" algn="l"/>
              </a:tabLst>
            </a:pP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1800" b="1" u="none" strike="noStrike" dirty="0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Scheme Directives (PS-verbatim): </a:t>
            </a:r>
            <a:r>
              <a:rPr lang="en-US" sz="1800" b="0" u="none" strike="noStrike" dirty="0" err="1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MoSJE</a:t>
            </a: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, NBCFDC &amp; NSFDC Concessional Loan Guidelines — Micro Finance (≤ ₹1.40L @ 6.5%) &amp; Term Loan (≤ ₹50L @ 8%) — </a:t>
            </a:r>
            <a:r>
              <a:rPr lang="en-US" sz="1800" b="0" u="none" strike="noStrike" dirty="0">
                <a:solidFill>
                  <a:srgbClr val="054AB0"/>
                </a:solidFill>
                <a:effectLst/>
                <a:uFillTx/>
                <a:latin typeface="Calibri"/>
                <a:ea typeface="ＭＳ Ｐゴシック"/>
                <a:hlinkClick r:id="rId3"/>
              </a:rPr>
              <a:t>nsfdc.nic.in/scheme</a:t>
            </a: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  <a:hlinkClick r:id="rId3"/>
              </a:rPr>
              <a:t> </a:t>
            </a: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· </a:t>
            </a:r>
            <a:r>
              <a:rPr lang="en-US" sz="1800" b="0" u="none" strike="noStrike" dirty="0">
                <a:solidFill>
                  <a:srgbClr val="054AB0"/>
                </a:solidFill>
                <a:effectLst/>
                <a:uFillTx/>
                <a:latin typeface="Calibri"/>
                <a:ea typeface="ＭＳ Ｐゴシック"/>
                <a:hlinkClick r:id="rId4"/>
              </a:rPr>
              <a:t>nbcfdc.gov.in</a:t>
            </a:r>
            <a:r>
              <a:rPr lang="en-US" dirty="0">
                <a:solidFill>
                  <a:srgbClr val="0F1A14"/>
                </a:solidFill>
                <a:latin typeface="Calibri"/>
                <a:ea typeface="ＭＳ Ｐゴシック"/>
                <a:hlinkClick r:id="rId4"/>
              </a:rPr>
              <a:t>.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0"/>
              </a:spcBef>
              <a:spcAft>
                <a:spcPts val="150"/>
              </a:spcAft>
              <a:tabLst>
                <a:tab pos="0" algn="l"/>
              </a:tabLst>
            </a:pP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1800" b="1" u="none" strike="noStrike" dirty="0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Rural Infrastructure &amp; Demographics: </a:t>
            </a: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Ministry of Rural Development (MoRD) — Mission </a:t>
            </a:r>
            <a:r>
              <a:rPr lang="en-US" sz="1800" b="0" u="none" strike="noStrike" dirty="0" err="1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Antyodaya</a:t>
            </a: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 Survey (2020) &amp; Census of India 2011 Primary Census Abstract (PCA) — </a:t>
            </a:r>
            <a:r>
              <a:rPr lang="en-US" sz="1800" b="0" u="none" strike="noStrike" dirty="0">
                <a:solidFill>
                  <a:srgbClr val="054AB0"/>
                </a:solidFill>
                <a:effectLst/>
                <a:uFillTx/>
                <a:latin typeface="Calibri"/>
                <a:ea typeface="ＭＳ Ｐゴシック"/>
                <a:hlinkClick r:id="rId5"/>
              </a:rPr>
              <a:t>missionantyodaya.nic.in</a:t>
            </a: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  <a:hlinkClick r:id="rId5"/>
              </a:rPr>
              <a:t> </a:t>
            </a: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· </a:t>
            </a:r>
            <a:r>
              <a:rPr lang="en-US" sz="1800" b="0" u="none" strike="noStrike" dirty="0">
                <a:solidFill>
                  <a:srgbClr val="054AB0"/>
                </a:solidFill>
                <a:effectLst/>
                <a:uFillTx/>
                <a:latin typeface="Calibri"/>
                <a:ea typeface="ＭＳ Ｐゴシック"/>
                <a:hlinkClick r:id="rId6"/>
              </a:rPr>
              <a:t>censusindia.gov.in</a:t>
            </a: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  <a:hlinkClick r:id="rId6"/>
              </a:rPr>
              <a:t>.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0"/>
              </a:spcBef>
              <a:spcAft>
                <a:spcPts val="150"/>
              </a:spcAft>
              <a:tabLst>
                <a:tab pos="0" algn="l"/>
              </a:tabLst>
            </a:pP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1800" b="1" u="none" strike="noStrike" dirty="0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Mandi Pricing &amp; Livestock Benchmarks: </a:t>
            </a: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Directorate of Marketing &amp; Inspection (DMI) — </a:t>
            </a:r>
            <a:r>
              <a:rPr lang="en-US" sz="1800" b="0" u="none" strike="noStrike" dirty="0" err="1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Agmarknet</a:t>
            </a: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 Daily Mandi Price Feeds &amp; 20th Livestock Census, DAHD —</a:t>
            </a: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  <a:hlinkClick r:id="rId7"/>
              </a:rPr>
              <a:t> </a:t>
            </a:r>
            <a:r>
              <a:rPr lang="en-US" sz="1800" b="0" u="none" strike="noStrike" dirty="0">
                <a:solidFill>
                  <a:srgbClr val="054AB0"/>
                </a:solidFill>
                <a:effectLst/>
                <a:uFillTx/>
                <a:latin typeface="Calibri"/>
                <a:ea typeface="ＭＳ Ｐゴシック"/>
                <a:hlinkClick r:id="rId7"/>
              </a:rPr>
              <a:t>agmarknet.gov.in</a:t>
            </a: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  <a:hlinkClick r:id="rId7"/>
              </a:rPr>
              <a:t> </a:t>
            </a: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· </a:t>
            </a:r>
            <a:r>
              <a:rPr lang="en-US" sz="1800" b="0" u="none" strike="noStrike" dirty="0">
                <a:solidFill>
                  <a:srgbClr val="054AB0"/>
                </a:solidFill>
                <a:effectLst/>
                <a:uFillTx/>
                <a:latin typeface="Calibri"/>
                <a:ea typeface="ＭＳ Ｐゴシック"/>
                <a:hlinkClick r:id="rId8"/>
              </a:rPr>
              <a:t>dahd.nic.in</a:t>
            </a: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  <a:hlinkClick r:id="rId8"/>
              </a:rPr>
              <a:t>.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0"/>
              </a:spcBef>
              <a:spcAft>
                <a:spcPts val="150"/>
              </a:spcAft>
              <a:tabLst>
                <a:tab pos="0" algn="l"/>
              </a:tabLst>
            </a:pP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1800" b="1" u="none" strike="noStrike" dirty="0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Hyper-Local Spatial Data: </a:t>
            </a: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OpenStreetMap Foundation &amp; Overpass API for real-time shop density mapping &amp; dual failover — </a:t>
            </a:r>
            <a:r>
              <a:rPr lang="en-US" sz="1800" b="0" u="none" strike="noStrike" dirty="0">
                <a:solidFill>
                  <a:srgbClr val="054AB0"/>
                </a:solidFill>
                <a:effectLst/>
                <a:uFillTx/>
                <a:latin typeface="Calibri"/>
                <a:ea typeface="ＭＳ Ｐゴシック"/>
                <a:hlinkClick r:id="rId9"/>
              </a:rPr>
              <a:t>overpass-api.de</a:t>
            </a: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  <a:hlinkClick r:id="rId9"/>
              </a:rPr>
              <a:t> </a:t>
            </a: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· </a:t>
            </a:r>
            <a:r>
              <a:rPr lang="en-US" sz="1800" b="0" u="none" strike="noStrike" dirty="0">
                <a:solidFill>
                  <a:srgbClr val="054AB0"/>
                </a:solidFill>
                <a:effectLst/>
                <a:uFillTx/>
                <a:latin typeface="Calibri"/>
                <a:ea typeface="ＭＳ Ｐゴシック"/>
                <a:hlinkClick r:id="rId10"/>
              </a:rPr>
              <a:t>openstreetmap.org</a:t>
            </a: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  <a:hlinkClick r:id="rId10"/>
              </a:rPr>
              <a:t>.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0"/>
              </a:spcBef>
              <a:spcAft>
                <a:spcPts val="150"/>
              </a:spcAft>
              <a:tabLst>
                <a:tab pos="0" algn="l"/>
              </a:tabLst>
            </a:pP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1800" b="1" u="none" strike="noStrike" dirty="0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AI Language &amp; Reasoning: </a:t>
            </a:r>
            <a:r>
              <a:rPr lang="en-US" sz="1800" b="0" u="none" strike="noStrike" dirty="0" err="1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Groq</a:t>
            </a: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 LPU Inference Engine (</a:t>
            </a:r>
            <a:r>
              <a:rPr lang="en-US" sz="1800" b="0" u="none" strike="noStrike" dirty="0" err="1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openai</a:t>
            </a: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/gpt-oss-20b / llama-3.1-8b) for structured trilingual narratives &amp; SSE streaming advisor — </a:t>
            </a:r>
            <a:r>
              <a:rPr lang="en-US" sz="1800" b="0" u="none" strike="noStrike" dirty="0">
                <a:solidFill>
                  <a:srgbClr val="054AB0"/>
                </a:solidFill>
                <a:effectLst/>
                <a:uFillTx/>
                <a:latin typeface="Calibri"/>
                <a:ea typeface="ＭＳ Ｐゴシック"/>
                <a:hlinkClick r:id="rId11"/>
              </a:rPr>
              <a:t>docs.groq.com</a:t>
            </a: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  <a:hlinkClick r:id="rId11"/>
              </a:rPr>
              <a:t>.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0"/>
              </a:spcBef>
              <a:spcAft>
                <a:spcPts val="150"/>
              </a:spcAft>
              <a:tabLst>
                <a:tab pos="0" algn="l"/>
              </a:tabLst>
            </a:pP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•  </a:t>
            </a:r>
            <a:r>
              <a:rPr lang="en-US" sz="1800" b="1" u="none" strike="noStrike" dirty="0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Engineering &amp; Verified TDD: </a:t>
            </a: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Next.js 14 App Router, </a:t>
            </a:r>
            <a:r>
              <a:rPr lang="en-US" sz="1800" b="0" u="none" strike="noStrike" dirty="0" err="1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FastAPI</a:t>
            </a: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, </a:t>
            </a:r>
            <a:r>
              <a:rPr lang="en-US" sz="1800" b="0" u="none" strike="noStrike" dirty="0" err="1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SQLModel</a:t>
            </a: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/SQLite; 56-test </a:t>
            </a:r>
            <a:r>
              <a:rPr lang="en-US" sz="1800" b="0" u="none" strike="noStrike" dirty="0" err="1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pytest</a:t>
            </a: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</a:rPr>
              <a:t> suite with golden validation for PS lending boundaries &amp; dataset grounding — </a:t>
            </a:r>
            <a:r>
              <a:rPr lang="en-US" sz="1800" b="0" u="none" strike="noStrike" dirty="0">
                <a:solidFill>
                  <a:srgbClr val="054AB0"/>
                </a:solidFill>
                <a:effectLst/>
                <a:uFillTx/>
                <a:latin typeface="Calibri"/>
                <a:ea typeface="ＭＳ Ｐゴシック"/>
                <a:hlinkClick r:id="rId12"/>
              </a:rPr>
              <a:t>github.com/</a:t>
            </a:r>
            <a:r>
              <a:rPr lang="en-US" sz="1800" b="0" u="none" strike="noStrike" dirty="0" err="1">
                <a:solidFill>
                  <a:srgbClr val="054AB0"/>
                </a:solidFill>
                <a:effectLst/>
                <a:uFillTx/>
                <a:latin typeface="Calibri"/>
                <a:ea typeface="ＭＳ Ｐゴシック"/>
                <a:hlinkClick r:id="rId12"/>
              </a:rPr>
              <a:t>GramIntel</a:t>
            </a:r>
            <a:r>
              <a:rPr lang="en-US" sz="1800" b="0" u="none" strike="noStrike" dirty="0">
                <a:solidFill>
                  <a:srgbClr val="0F1A14"/>
                </a:solidFill>
                <a:effectLst/>
                <a:uFillTx/>
                <a:latin typeface="Calibri"/>
                <a:ea typeface="ＭＳ Ｐゴシック"/>
                <a:hlinkClick r:id="rId12"/>
              </a:rPr>
              <a:t>.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45"/>
          </p:nvPr>
        </p:nvSpPr>
        <p:spPr>
          <a:xfrm>
            <a:off x="873756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1" u="none" strike="noStrike">
                <a:solidFill>
                  <a:srgbClr val="FFFFFF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E748922-5925-4EDD-9B3C-18C3AA0FFCA2}" type="slidenum"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TradeGothic"/>
                <a:ea typeface="ＭＳ Ｐゴシック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ftr" idx="46"/>
          </p:nvPr>
        </p:nvSpPr>
        <p:spPr>
          <a:xfrm>
            <a:off x="4648320" y="6356520"/>
            <a:ext cx="32036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FFFFFF"/>
                </a:solidFill>
                <a:effectLst/>
                <a:uFillTx/>
                <a:latin typeface="Trade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TradeGothic"/>
              </a:rPr>
              <a:t>@SIH Idea submission- Template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Oval 8" descr="Your startup LOGO"/>
          <p:cNvSpPr/>
          <p:nvPr/>
        </p:nvSpPr>
        <p:spPr>
          <a:xfrm>
            <a:off x="329760" y="252360"/>
            <a:ext cx="1251360" cy="807120"/>
          </a:xfrm>
          <a:prstGeom prst="ellipse">
            <a:avLst/>
          </a:prstGeom>
          <a:solidFill>
            <a:srgbClr val="FFFFFF"/>
          </a:solidFill>
          <a:ln>
            <a:solidFill>
              <a:srgbClr val="8064A2"/>
            </a:solidFill>
            <a:rou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400"/>
              </a:spcAft>
            </a:pPr>
            <a:r>
              <a:rPr lang="en-US" sz="1000" b="1" u="none" strike="noStrike">
                <a:solidFill>
                  <a:srgbClr val="0B5D3B"/>
                </a:solidFill>
                <a:effectLst/>
                <a:uFillTx/>
                <a:latin typeface="Calibri"/>
                <a:ea typeface="ＭＳ Ｐゴシック"/>
              </a:rPr>
              <a:t>Team ADAPT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Picture 11"/>
          <p:cNvPicPr/>
          <p:nvPr/>
        </p:nvPicPr>
        <p:blipFill>
          <a:blip r:embed="rId13"/>
          <a:stretch/>
        </p:blipFill>
        <p:spPr>
          <a:xfrm>
            <a:off x="9780120" y="1440"/>
            <a:ext cx="2249640" cy="10620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7512</TotalTime>
  <Words>1201</Words>
  <Application>Microsoft Office PowerPoint</Application>
  <PresentationFormat>Widescreen</PresentationFormat>
  <Paragraphs>111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Arial</vt:lpstr>
      <vt:lpstr>Calibri</vt:lpstr>
      <vt:lpstr>Garamond</vt:lpstr>
      <vt:lpstr>Symbol</vt:lpstr>
      <vt:lpstr>Times New Roman</vt:lpstr>
      <vt:lpstr>TradeGothic</vt:lpstr>
      <vt:lpstr>Wingdings</vt:lpstr>
      <vt:lpstr>Office Theme</vt:lpstr>
      <vt:lpstr>SMART INDIA HACKATHON 2026</vt:lpstr>
      <vt:lpstr>GramIntel — AI Advisor for Rural Micro-Entrepreneurs</vt:lpstr>
      <vt:lpstr>TECHNICAL APPROACH</vt:lpstr>
      <vt:lpstr>FEASIBILITY AND VIABILITY</vt:lpstr>
      <vt:lpstr>IMPACT AND BENEFITS</vt:lpstr>
      <vt:lpstr>RESEARCH  AND REFERENCES</vt:lpstr>
    </vt:vector>
  </TitlesOfParts>
  <Company>Crowdfunder,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dc:description/>
  <cp:lastModifiedBy>yudheesh chandra chowdary chunduri</cp:lastModifiedBy>
  <cp:revision>150</cp:revision>
  <dcterms:created xsi:type="dcterms:W3CDTF">2013-12-12T18:46:50Z</dcterms:created>
  <dcterms:modified xsi:type="dcterms:W3CDTF">2026-09-11T16:18:03Z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6</vt:i4>
  </property>
  <property fmtid="{D5CDD505-2E9C-101B-9397-08002B2CF9AE}" pid="3" name="PresentationFormat">
    <vt:lpwstr>Widescreen</vt:lpwstr>
  </property>
  <property fmtid="{D5CDD505-2E9C-101B-9397-08002B2CF9AE}" pid="4" name="Slides">
    <vt:i4>7</vt:i4>
  </property>
</Properties>
</file>