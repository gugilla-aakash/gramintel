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521289A-3B1B-4FE9-B199-CD2245EB167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FF9B8A-05BB-4F3E-99A6-7AFA98234B4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FB0D710-3254-4580-AF22-4645735180C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ACE76DF-8F3C-4572-941C-1DA5A6EC7FC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B46B6B9-D6EE-4153-A0BF-6DEAD74899A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A84AC41-67D0-4D7E-93DA-2B2ED90736F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F52E1F-A0DA-4FB1-A324-7A40AFE06E09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7FC9C7-BAB1-440D-B809-8B9140907C15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7AACC6-E17D-419F-81AD-C10D1BAA6B7F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05E81C-7EE0-41E9-AD0D-502FDC47C325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4B134F-4FC1-46CB-8CB6-54772261218D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FB7812-7159-44DA-B31E-76995CCC43B4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769862-81C5-482B-9D18-FC26579B8FF3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CC3D63-53F7-4ACC-9761-459973D5B3D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70A4F8-9FED-4215-B2C0-4C6B7B734E6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5CBBC2-201D-480A-A30C-CD2E12090D00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pic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0D5B3B-48A6-4AC9-94FB-C9C13FFF8C22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8240" cy="5154480"/>
          </a:xfrm>
          <a:custGeom>
            <a:avLst/>
            <a:gdLst>
              <a:gd name="textAreaLeft" fmla="*/ 0 w 4638240"/>
              <a:gd name="textAreaRight" fmla="*/ 4638600 w 4638240"/>
              <a:gd name="textAreaTop" fmla="*/ 0 h 5154480"/>
              <a:gd name="textAreaBottom" fmla="*/ 5154840 h 5154480"/>
              <a:gd name="GluePoint1X" fmla="*/ 363179 w 6184806"/>
              <a:gd name="GluePoint1Y" fmla="*/ 3125191 h 5154967"/>
              <a:gd name="GluePoint2X" fmla="*/ 898270 w 6184806"/>
              <a:gd name="GluePoint2Y" fmla="*/ 3125191 h 5154967"/>
              <a:gd name="GluePoint3X" fmla="*/ 980326 w 6184806"/>
              <a:gd name="GluePoint3Y" fmla="*/ 3173551 h 5154967"/>
              <a:gd name="GluePoint4X" fmla="*/ 1248448 w 6184806"/>
              <a:gd name="GluePoint4Y" fmla="*/ 3635277 h 5154967"/>
              <a:gd name="GluePoint5X" fmla="*/ 1248448 w 6184806"/>
              <a:gd name="GluePoint5Y" fmla="*/ 3729695 h 5154967"/>
              <a:gd name="GluePoint6X" fmla="*/ 980326 w 6184806"/>
              <a:gd name="GluePoint6Y" fmla="*/ 4191421 h 5154967"/>
              <a:gd name="GluePoint7X" fmla="*/ 898270 w 6184806"/>
              <a:gd name="GluePoint7Y" fmla="*/ 4239781 h 5154967"/>
              <a:gd name="GluePoint8X" fmla="*/ 363179 w 6184806"/>
              <a:gd name="GluePoint8Y" fmla="*/ 4239781 h 5154967"/>
              <a:gd name="GluePoint9X" fmla="*/ 279969 w 6184806"/>
              <a:gd name="GluePoint9Y" fmla="*/ 4191421 h 5154967"/>
              <a:gd name="GluePoint10X" fmla="*/ 13002 w 6184806"/>
              <a:gd name="GluePoint10Y" fmla="*/ 3729695 h 5154967"/>
              <a:gd name="GluePoint11X" fmla="*/ 13002 w 6184806"/>
              <a:gd name="GluePoint11Y" fmla="*/ 3635277 h 5154967"/>
              <a:gd name="GluePoint12X" fmla="*/ 279969 w 6184806"/>
              <a:gd name="GluePoint12Y" fmla="*/ 3173551 h 5154967"/>
              <a:gd name="GluePoint13X" fmla="*/ 363179 w 6184806"/>
              <a:gd name="GluePoint13Y" fmla="*/ 3125191 h 5154967"/>
              <a:gd name="GluePoint14X" fmla="*/ 2489721 w 6184806"/>
              <a:gd name="GluePoint14Y" fmla="*/ 570035 h 5154967"/>
              <a:gd name="GluePoint15X" fmla="*/ 2764862 w 6184806"/>
              <a:gd name="GluePoint15Y" fmla="*/ 570035 h 5154967"/>
              <a:gd name="GluePoint16X" fmla="*/ 2796959 w 6184806"/>
              <a:gd name="GluePoint16Y" fmla="*/ 570035 h 5154967"/>
              <a:gd name="GluePoint17X" fmla="*/ 2827587 w 6184806"/>
              <a:gd name="GluePoint17Y" fmla="*/ 622777 h 5154967"/>
              <a:gd name="GluePoint18X" fmla="*/ 2977604 w 6184806"/>
              <a:gd name="GluePoint18Y" fmla="*/ 881117 h 5154967"/>
              <a:gd name="GluePoint19X" fmla="*/ 2977604 w 6184806"/>
              <a:gd name="GluePoint19Y" fmla="*/ 1025720 h 5154967"/>
              <a:gd name="GluePoint20X" fmla="*/ 2566968 w 6184806"/>
              <a:gd name="GluePoint20Y" fmla="*/ 1732863 h 5154967"/>
              <a:gd name="GluePoint21X" fmla="*/ 2441299 w 6184806"/>
              <a:gd name="GluePoint21Y" fmla="*/ 1806927 h 5154967"/>
              <a:gd name="GluePoint22X" fmla="*/ 1621798 w 6184806"/>
              <a:gd name="GluePoint22Y" fmla="*/ 1806927 h 5154967"/>
              <a:gd name="GluePoint23X" fmla="*/ 1583218 w 6184806"/>
              <a:gd name="GluePoint23Y" fmla="*/ 1801802 h 5154967"/>
              <a:gd name="GluePoint24X" fmla="*/ 1556683 w 6184806"/>
              <a:gd name="GluePoint24Y" fmla="*/ 1790677 h 5154967"/>
              <a:gd name="GluePoint25X" fmla="*/ 1572899 w 6184806"/>
              <a:gd name="GluePoint25Y" fmla="*/ 1762630 h 5154967"/>
              <a:gd name="GluePoint26X" fmla="*/ 2147429 w 6184806"/>
              <a:gd name="GluePoint26Y" fmla="*/ 768968 h 5154967"/>
              <a:gd name="GluePoint27X" fmla="*/ 2489721 w 6184806"/>
              <a:gd name="GluePoint27Y" fmla="*/ 570035 h 5154967"/>
              <a:gd name="GluePoint28X" fmla="*/ 1573268 w 6184806"/>
              <a:gd name="GluePoint28Y" fmla="*/ 0 h 5154967"/>
              <a:gd name="GluePoint29X" fmla="*/ 2497662 w 6184806"/>
              <a:gd name="GluePoint29Y" fmla="*/ 0 h 5154967"/>
              <a:gd name="GluePoint30X" fmla="*/ 2639415 w 6184806"/>
              <a:gd name="GluePoint30Y" fmla="*/ 83546 h 5154967"/>
              <a:gd name="GluePoint31X" fmla="*/ 2887862 w 6184806"/>
              <a:gd name="GluePoint31Y" fmla="*/ 511387 h 5154967"/>
              <a:gd name="GluePoint32X" fmla="*/ 2915928 w 6184806"/>
              <a:gd name="GluePoint32Y" fmla="*/ 559720 h 5154967"/>
              <a:gd name="GluePoint33X" fmla="*/ 2893844 w 6184806"/>
              <a:gd name="GluePoint33Y" fmla="*/ 559720 h 5154967"/>
              <a:gd name="GluePoint34X" fmla="*/ 2789466 w 6184806"/>
              <a:gd name="GluePoint34Y" fmla="*/ 559720 h 5154967"/>
              <a:gd name="GluePoint35X" fmla="*/ 2744122 w 6184806"/>
              <a:gd name="GluePoint35Y" fmla="*/ 481634 h 5154967"/>
              <a:gd name="GluePoint36X" fmla="*/ 2570885 w 6184806"/>
              <a:gd name="GluePoint36Y" fmla="*/ 183309 h 5154967"/>
              <a:gd name="GluePoint37X" fmla="*/ 2445216 w 6184806"/>
              <a:gd name="GluePoint37Y" fmla="*/ 109243 h 5154967"/>
              <a:gd name="GluePoint38X" fmla="*/ 1625714 w 6184806"/>
              <a:gd name="GluePoint38Y" fmla="*/ 109243 h 5154967"/>
              <a:gd name="GluePoint39X" fmla="*/ 1498276 w 6184806"/>
              <a:gd name="GluePoint39Y" fmla="*/ 183309 h 5154967"/>
              <a:gd name="GluePoint40X" fmla="*/ 1089410 w 6184806"/>
              <a:gd name="GluePoint40Y" fmla="*/ 890450 h 5154967"/>
              <a:gd name="GluePoint41X" fmla="*/ 1089410 w 6184806"/>
              <a:gd name="GluePoint41Y" fmla="*/ 1035054 h 5154967"/>
              <a:gd name="GluePoint42X" fmla="*/ 1498276 w 6184806"/>
              <a:gd name="GluePoint42Y" fmla="*/ 1742196 h 5154967"/>
              <a:gd name="GluePoint43X" fmla="*/ 1552039 w 6184806"/>
              <a:gd name="GluePoint43Y" fmla="*/ 1796422 h 5154967"/>
              <a:gd name="GluePoint44X" fmla="*/ 1558260 w 6184806"/>
              <a:gd name="GluePoint44Y" fmla="*/ 1799029 h 5154967"/>
              <a:gd name="GluePoint45X" fmla="*/ 1524911 w 6184806"/>
              <a:gd name="GluePoint45Y" fmla="*/ 1856707 h 5154967"/>
              <a:gd name="GluePoint46X" fmla="*/ 1500108 w 6184806"/>
              <a:gd name="GluePoint46Y" fmla="*/ 1899604 h 5154967"/>
              <a:gd name="GluePoint47X" fmla="*/ 1525834 w 6184806"/>
              <a:gd name="GluePoint47Y" fmla="*/ 1910390 h 5154967"/>
              <a:gd name="GluePoint48X" fmla="*/ 1569352 w 6184806"/>
              <a:gd name="GluePoint48Y" fmla="*/ 1916170 h 5154967"/>
              <a:gd name="GluePoint49X" fmla="*/ 2493745 w 6184806"/>
              <a:gd name="GluePoint49Y" fmla="*/ 1916170 h 5154967"/>
              <a:gd name="GluePoint50X" fmla="*/ 2635498 w 6184806"/>
              <a:gd name="GluePoint50Y" fmla="*/ 1832627 h 5154967"/>
              <a:gd name="GluePoint51X" fmla="*/ 3098693 w 6184806"/>
              <a:gd name="GluePoint51Y" fmla="*/ 1034974 h 5154967"/>
              <a:gd name="GluePoint52X" fmla="*/ 3098693 w 6184806"/>
              <a:gd name="GluePoint52Y" fmla="*/ 871863 h 5154967"/>
              <a:gd name="GluePoint53X" fmla="*/ 2945803 w 6184806"/>
              <a:gd name="GluePoint53Y" fmla="*/ 608576 h 5154967"/>
              <a:gd name="GluePoint54X" fmla="*/ 2923422 w 6184806"/>
              <a:gd name="GluePoint54Y" fmla="*/ 570035 h 5154967"/>
              <a:gd name="GluePoint55X" fmla="*/ 3027104 w 6184806"/>
              <a:gd name="GluePoint55Y" fmla="*/ 570035 h 5154967"/>
              <a:gd name="GluePoint56X" fmla="*/ 4690846 w 6184806"/>
              <a:gd name="GluePoint56Y" fmla="*/ 570035 h 5154967"/>
              <a:gd name="GluePoint57X" fmla="*/ 5028384 w 6184806"/>
              <a:gd name="GluePoint57Y" fmla="*/ 768968 h 5154967"/>
              <a:gd name="GluePoint58X" fmla="*/ 6131323 w 6184806"/>
              <a:gd name="GluePoint58Y" fmla="*/ 2668304 h 5154967"/>
              <a:gd name="GluePoint59X" fmla="*/ 6131323 w 6184806"/>
              <a:gd name="GluePoint59Y" fmla="*/ 3056698 h 5154967"/>
              <a:gd name="GluePoint60X" fmla="*/ 5028384 w 6184806"/>
              <a:gd name="GluePoint60Y" fmla="*/ 4956035 h 5154967"/>
              <a:gd name="GluePoint61X" fmla="*/ 4690846 w 6184806"/>
              <a:gd name="GluePoint61Y" fmla="*/ 5154967 h 5154967"/>
              <a:gd name="GluePoint62X" fmla="*/ 2489721 w 6184806"/>
              <a:gd name="GluePoint62Y" fmla="*/ 5154967 h 5154967"/>
              <a:gd name="GluePoint63X" fmla="*/ 2147429 w 6184806"/>
              <a:gd name="GluePoint63Y" fmla="*/ 4956035 h 5154967"/>
              <a:gd name="GluePoint64X" fmla="*/ 1049243 w 6184806"/>
              <a:gd name="GluePoint64Y" fmla="*/ 3056698 h 5154967"/>
              <a:gd name="GluePoint65X" fmla="*/ 1049243 w 6184806"/>
              <a:gd name="GluePoint65Y" fmla="*/ 2668304 h 5154967"/>
              <a:gd name="GluePoint66X" fmla="*/ 1457007 w 6184806"/>
              <a:gd name="GluePoint66Y" fmla="*/ 1963067 h 5154967"/>
              <a:gd name="GluePoint67X" fmla="*/ 1491373 w 6184806"/>
              <a:gd name="GluePoint67Y" fmla="*/ 1903634 h 5154967"/>
              <a:gd name="GluePoint68X" fmla="*/ 1490164 w 6184806"/>
              <a:gd name="GluePoint68Y" fmla="*/ 1903127 h 5154967"/>
              <a:gd name="GluePoint69X" fmla="*/ 1429519 w 6184806"/>
              <a:gd name="GluePoint69Y" fmla="*/ 1841960 h 5154967"/>
              <a:gd name="GluePoint70X" fmla="*/ 968320 w 6184806"/>
              <a:gd name="GluePoint70Y" fmla="*/ 1044307 h 5154967"/>
              <a:gd name="GluePoint71X" fmla="*/ 968320 w 6184806"/>
              <a:gd name="GluePoint71Y" fmla="*/ 881196 h 5154967"/>
              <a:gd name="GluePoint72X" fmla="*/ 1429519 w 6184806"/>
              <a:gd name="GluePoint72Y" fmla="*/ 83546 h 5154967"/>
              <a:gd name="GluePoint73X" fmla="*/ 1573268 w 6184806"/>
              <a:gd name="GluePoint73Y" fmla="*/ 0 h 51549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</a:cxnLst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dk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4"/>
          <p:cNvPicPr/>
          <p:nvPr/>
        </p:nvPicPr>
        <p:blipFill>
          <a:blip r:embed="rId1"/>
          <a:srcRect l="0" t="0" r="59916" b="0"/>
          <a:stretch/>
        </p:blipFill>
        <p:spPr>
          <a:xfrm>
            <a:off x="6854760" y="1715760"/>
            <a:ext cx="3203280" cy="342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subTitle"/>
          </p:nvPr>
        </p:nvSpPr>
        <p:spPr>
          <a:xfrm>
            <a:off x="1245600" y="648720"/>
            <a:ext cx="8534160" cy="1752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GramIntel</a:t>
            </a:r>
            <a:endParaRPr lang="en-US" sz="4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  <a:p>
            <a:pPr indent="0" algn="ctr" defTabSz="457200">
              <a:lnSpc>
                <a:spcPct val="100000"/>
              </a:lnSpc>
              <a:spcBef>
                <a:spcPts val="360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ＭＳ Ｐゴシック"/>
              </a:rPr>
              <a:t>Before you borrow, understand what you're building.</a:t>
            </a:r>
            <a:endParaRPr lang="en-US" sz="18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960" cy="207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Garamond"/>
                <a:ea typeface="ＭＳ Ｐゴシック"/>
              </a:rPr>
              <a:t>SMART INDIA HACKATHON 2026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331200" y="2076480"/>
            <a:ext cx="5924160" cy="42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148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</a:t>
            </a:r>
            <a:r>
              <a:rPr lang="en-US" sz="14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000" b="1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Problem Statement ID – </a:t>
            </a:r>
            <a:r>
              <a:rPr lang="en-US" sz="20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26091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2000" b="1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Problem Statement Title – </a:t>
            </a:r>
            <a:r>
              <a:rPr lang="en-US" sz="20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AI-Driven Hyper-Local Business Advisory and Financial Structuring Assistant for Rural Micro-Entrepreneurs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2000" b="1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Ministry / Agency – </a:t>
            </a:r>
            <a:r>
              <a:rPr lang="en-US" sz="20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Ministry of Social Justice &amp; Empowerment (MoSJE)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2000" b="1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Theme – </a:t>
            </a:r>
            <a:r>
              <a:rPr lang="en-US" sz="20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Agriculture, FoodTech &amp; Rural Development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2000" b="1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PS Category – </a:t>
            </a:r>
            <a:r>
              <a:rPr lang="en-US" sz="20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Software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2000" b="1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Team ID – </a:t>
            </a:r>
            <a:r>
              <a:rPr lang="en-US" sz="20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TBD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2000" b="1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Team Name – </a:t>
            </a:r>
            <a:r>
              <a:rPr lang="en-US" sz="20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ADAPT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Picture 1"/>
          <p:cNvPicPr/>
          <p:nvPr/>
        </p:nvPicPr>
        <p:blipFill>
          <a:blip r:embed="rId2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8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737360" y="0"/>
            <a:ext cx="786348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200" b="1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GramIntel — AI Advisor for Rural Micro-Entrepreneurs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0" y="1188720"/>
            <a:ext cx="12191760" cy="354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4F81BD"/>
                </a:solidFill>
                <a:effectLst/>
                <a:uFillTx/>
                <a:latin typeface="Calibri"/>
                <a:ea typeface="ＭＳ Ｐゴシック"/>
              </a:rPr>
              <a:t>1. Detailed Explanation (Prototype &amp; Core Modules)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6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Input Parameters: </a:t>
            </a:r>
            <a:r>
              <a:rPr lang="en-US" sz="16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Village/Block/District location + Available Margin Capital + Proposed Category (Dairy, Retail, Poultry, Food Processing, Textiles, Services, Livestock).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6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Module 1 — Hyper-Local Feasibility: </a:t>
            </a:r>
            <a:r>
              <a:rPr lang="en-US" sz="16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Evaluates 6 signals (5–10 km market reach, niche opportunity analysis, competitor density, SWOT, threats, and Agmarknet product market value).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6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Module 2 — Smart Scheme Calculator: </a:t>
            </a:r>
            <a:r>
              <a:rPr lang="en-US" sz="16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10% margin → 90% loan, auto-routes Micro Finance (≤ ₹1.40L @ 6.5%) vs. Term Loan (≤ ₹50L @ 8%), quarterly EMI/moratorium schedule &amp; 3-mo opex reserve.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4F81BD"/>
                </a:solidFill>
                <a:effectLst/>
                <a:uFillTx/>
                <a:latin typeface="Calibri"/>
                <a:ea typeface="ＭＳ Ｐゴシック"/>
              </a:rPr>
              <a:t>2. Addressing the Problem (MoSJE Mandate)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6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Data Over Anecdote: </a:t>
            </a:r>
            <a:r>
              <a:rPr lang="en-US" sz="16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Replaces hearsay with authentic Census 2011 demographics, Mission Antyodaya infrastructure, and Agmarknet mandi feeds before borrowing.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4F81BD"/>
                </a:solidFill>
                <a:effectLst/>
                <a:uFillTx/>
                <a:latin typeface="Calibri"/>
                <a:ea typeface="ＭＳ Ｐゴシック"/>
              </a:rPr>
              <a:t>3. Innovation &amp; Uniqueness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6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Dual-Tier Pipeline &amp; Full Loop: </a:t>
            </a:r>
            <a:r>
              <a:rPr lang="en-US" sz="16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Multi-tiered fallback (OSM + Census/Antyodaya + Calibrated Baseline) with end-to-end applicant submission to SCA officer appraisal queue.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D2F155-CFAA-4D32-ABE2-38CCCB51E4B4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ftr" idx="38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TradeGothic"/>
              </a:rPr>
              <a:t>@SIH Idea submission- Template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Oval 9" descr="Your startup LOGO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Team ADAPT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Rounded Rectangle 15362"/>
          <p:cNvSpPr/>
          <p:nvPr/>
        </p:nvSpPr>
        <p:spPr>
          <a:xfrm>
            <a:off x="612720" y="4709160"/>
            <a:ext cx="2502720" cy="1051200"/>
          </a:xfrm>
          <a:prstGeom prst="roundRect">
            <a:avLst>
              <a:gd name="adj" fmla="val 16667"/>
            </a:avLst>
          </a:prstGeom>
          <a:solidFill>
            <a:srgbClr val="0B5D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INPUTS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Village · margin · category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5363"/>
          <p:cNvSpPr/>
          <p:nvPr/>
        </p:nvSpPr>
        <p:spPr>
          <a:xfrm>
            <a:off x="3115800" y="500184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3B75B"/>
                </a:solidFill>
                <a:effectLst/>
                <a:uFillTx/>
                <a:latin typeface="Calibri"/>
                <a:ea typeface="ＭＳ Ｐゴシック"/>
              </a:rPr>
              <a:t>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5364"/>
          <p:cNvSpPr/>
          <p:nvPr/>
        </p:nvSpPr>
        <p:spPr>
          <a:xfrm>
            <a:off x="3435840" y="4709160"/>
            <a:ext cx="2502720" cy="10512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MODULE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6-signal feasibility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5365"/>
          <p:cNvSpPr/>
          <p:nvPr/>
        </p:nvSpPr>
        <p:spPr>
          <a:xfrm>
            <a:off x="5938920" y="500184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3B75B"/>
                </a:solidFill>
                <a:effectLst/>
                <a:uFillTx/>
                <a:latin typeface="Calibri"/>
                <a:ea typeface="ＭＳ Ｐゴシック"/>
              </a:rPr>
              <a:t>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5366"/>
          <p:cNvSpPr/>
          <p:nvPr/>
        </p:nvSpPr>
        <p:spPr>
          <a:xfrm>
            <a:off x="6258960" y="4709160"/>
            <a:ext cx="2502720" cy="105120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MODULE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Scheme + EMI math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5367"/>
          <p:cNvSpPr/>
          <p:nvPr/>
        </p:nvSpPr>
        <p:spPr>
          <a:xfrm>
            <a:off x="8762400" y="500184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3B75B"/>
                </a:solidFill>
                <a:effectLst/>
                <a:uFillTx/>
                <a:latin typeface="Calibri"/>
                <a:ea typeface="ＭＳ Ｐゴシック"/>
              </a:rPr>
              <a:t>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5368"/>
          <p:cNvSpPr/>
          <p:nvPr/>
        </p:nvSpPr>
        <p:spPr>
          <a:xfrm>
            <a:off x="9082440" y="4709160"/>
            <a:ext cx="2502720" cy="105120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DECISION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Officer approves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TECHNIC</a:t>
            </a: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AL </a:t>
            </a: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APPROA</a:t>
            </a: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CH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612720" y="1188720"/>
            <a:ext cx="6034680" cy="3972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4F81BD"/>
                </a:solidFill>
                <a:effectLst/>
                <a:uFillTx/>
                <a:latin typeface="Calibri"/>
                <a:ea typeface="ＭＳ Ｐゴシック"/>
              </a:rPr>
              <a:t>Technologies Used (4-Layer Modular Stack)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3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Client Layer: </a:t>
            </a: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Next.js 14 App Router, React 18, TypeScript 5.7, Tailwind CSS, MapLibre GL 5.6 (pinned), Framer Motion, Lenis.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3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Gateway &amp; Services: </a:t>
            </a: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Next.js Proxy, FastAPI, SQLModel/SQLite (zero-ops sync), JWT OTP + Google OAuth with server-side allowlist RBAC.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3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AI &amp; Spatial Pipeline: </a:t>
            </a: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Groq LPU (openai/gpt-oss-20b for trilingual narratives &amp; SSE advisor), Overpass API (OSM live shops) with dual-endpoint retries.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3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Data Foundation: </a:t>
            </a: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Integrated Census 2011 PCA, Mission Antyodaya 2020 rural infrastructure, and Agmarknet commodity pricing datasets.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4F81BD"/>
                </a:solidFill>
                <a:effectLst/>
                <a:uFillTx/>
                <a:latin typeface="Calibri"/>
                <a:ea typeface="ＭＳ Ｐゴシック"/>
              </a:rPr>
              <a:t>Methodology &amp; Implementation Process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3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1. Zero-Hallucination Engine: </a:t>
            </a: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Deterministic financial &amp; feasibility math strictly verified with 56 automated pytest unit/integration tests.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3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2. Ground-Truth Ingestion: </a:t>
            </a: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Directly computes consumer volume and monthly demand from village household counts and category spend benchmarks.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3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3. Multi-Tier Resilience: </a:t>
            </a:r>
            <a:r>
              <a:rPr lang="en-US" sz="13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Guaranteed 100% uptime with pre-seeded regional fallbacks; zero blank screens under low rural bandwidth.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10BF86-2CF6-4D41-9D98-E9D47008B665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ftr" idx="40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TradeGothic"/>
              </a:rPr>
              <a:t>@SIH Idea submission- Template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Oval 10" descr="Your startup LOGO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Team ADAPT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Picture 11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17410" descr="shot-portal.png"/>
          <p:cNvPicPr/>
          <p:nvPr/>
        </p:nvPicPr>
        <p:blipFill>
          <a:blip r:embed="rId2"/>
          <a:stretch/>
        </p:blipFill>
        <p:spPr>
          <a:xfrm>
            <a:off x="6903720" y="1188720"/>
            <a:ext cx="4663080" cy="30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17411"/>
          <p:cNvSpPr/>
          <p:nvPr/>
        </p:nvSpPr>
        <p:spPr>
          <a:xfrm>
            <a:off x="6903720" y="434340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56 tests green · next build green · Verified Gov Datasets + PS math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17412"/>
          <p:cNvSpPr/>
          <p:nvPr/>
        </p:nvSpPr>
        <p:spPr>
          <a:xfrm>
            <a:off x="612720" y="5120640"/>
            <a:ext cx="3443760" cy="1051200"/>
          </a:xfrm>
          <a:prstGeom prst="roundRect">
            <a:avLst>
              <a:gd name="adj" fmla="val 16667"/>
            </a:avLst>
          </a:prstGeom>
          <a:solidFill>
            <a:srgbClr val="0B5D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ＭＳ Ｐゴシック"/>
              </a:rPr>
              <a:t>GOV DATASETS &amp; OSM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chemeClr val="lt1"/>
                </a:solidFill>
                <a:effectLst/>
                <a:uFillTx/>
                <a:latin typeface="Calibri"/>
                <a:ea typeface="ＭＳ Ｐゴシック"/>
              </a:rPr>
              <a:t>Census · Antyodaya · Agmarknet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7413"/>
          <p:cNvSpPr/>
          <p:nvPr/>
        </p:nvSpPr>
        <p:spPr>
          <a:xfrm>
            <a:off x="4056840" y="54133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3B75B"/>
                </a:solidFill>
                <a:effectLst/>
                <a:uFillTx/>
                <a:latin typeface="Calibri"/>
                <a:ea typeface="ＭＳ Ｐゴシック"/>
              </a:rPr>
              <a:t>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17414"/>
          <p:cNvSpPr/>
          <p:nvPr/>
        </p:nvSpPr>
        <p:spPr>
          <a:xfrm>
            <a:off x="4376880" y="5120640"/>
            <a:ext cx="3443760" cy="10512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FASTAPI ENGINE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Groq EN/</a:t>
            </a:r>
            <a:r>
              <a:rPr lang="hi-I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हिं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/</a:t>
            </a:r>
            <a:r>
              <a:rPr lang="hi-I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తె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+ EMI math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7415"/>
          <p:cNvSpPr/>
          <p:nvPr/>
        </p:nvSpPr>
        <p:spPr>
          <a:xfrm>
            <a:off x="7821000" y="54133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3B75B"/>
                </a:solidFill>
                <a:effectLst/>
                <a:uFillTx/>
                <a:latin typeface="Calibri"/>
                <a:ea typeface="ＭＳ Ｐゴシック"/>
              </a:rPr>
              <a:t>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17416"/>
          <p:cNvSpPr/>
          <p:nvPr/>
        </p:nvSpPr>
        <p:spPr>
          <a:xfrm>
            <a:off x="8141040" y="5120640"/>
            <a:ext cx="3443760" cy="105120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APPS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/assistant + /portal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FEASIBILITY AND VIABILITY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609480" y="1095120"/>
            <a:ext cx="10972440" cy="1718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4F81BD"/>
                </a:solidFill>
                <a:effectLst/>
                <a:uFillTx/>
                <a:latin typeface="Calibri"/>
                <a:ea typeface="ＭＳ Ｐゴシック"/>
              </a:rPr>
              <a:t>Analysis of Feasibility (Technical, Operational &amp; Financial)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2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Technical Feasibility: </a:t>
            </a: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Lightweight commodity stack (Next.js 14 + FastAPI + SQLite), single-image deployment (Vercel + Render), zero-ops maintenance.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2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Operational Feasibility: </a:t>
            </a: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Trilingual vernacular interface (EN/</a:t>
            </a:r>
            <a:r>
              <a:rPr lang="hi-IN" sz="1200" b="0" u="none" strike="noStrike">
                <a:solidFill>
                  <a:srgbClr val="0F1A14"/>
                </a:solidFill>
                <a:effectLst/>
                <a:uFillTx/>
                <a:latin typeface="Calibri"/>
              </a:rPr>
              <a:t>हिं</a:t>
            </a: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/</a:t>
            </a:r>
            <a:r>
              <a:rPr lang="hi-IN" sz="1200" b="0" u="none" strike="noStrike">
                <a:solidFill>
                  <a:srgbClr val="0F1A14"/>
                </a:solidFill>
                <a:effectLst/>
                <a:uFillTx/>
                <a:latin typeface="Calibri"/>
              </a:rPr>
              <a:t>తె</a:t>
            </a: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) with simple OTP auth, removing digital and language literacy hurdles for rural beneficiaries.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2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Financial Viability: </a:t>
            </a: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Aligned with MoSJE/NBCFDC/NSFDC scheme rules; computes 3-mo opex reserve + 10% contingency to safeguard borrower liquidity.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4F81BD"/>
                </a:solidFill>
                <a:effectLst/>
                <a:uFillTx/>
                <a:latin typeface="Calibri"/>
                <a:ea typeface="ＭＳ Ｐゴシック"/>
              </a:rPr>
              <a:t>Potential Challenges, Risks &amp; Mitigation Strategies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A659000-C9A4-4D2A-9576-ACDA774D3522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ftr" idx="42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rPr>
              <a:t>@SIH Idea submission- Template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Oval 11" descr="Your startup LOGO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Team ADAPT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08" name="Table 17410"/>
          <p:cNvGraphicFramePr/>
          <p:nvPr/>
        </p:nvGraphicFramePr>
        <p:xfrm>
          <a:off x="612720" y="2606040"/>
          <a:ext cx="10972440" cy="3061440"/>
        </p:xfrm>
        <a:graphic>
          <a:graphicData uri="http://schemas.openxmlformats.org/drawingml/2006/table">
            <a:tbl>
              <a:tblPr/>
              <a:tblGrid>
                <a:gridCol w="3108960"/>
                <a:gridCol w="6035040"/>
                <a:gridCol w="1828800"/>
              </a:tblGrid>
              <a:tr h="612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Risk / Challenge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5D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Mitigation strategy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5D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Status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5D3B"/>
                    </a:solidFill>
                  </a:tcPr>
                </a:tc>
              </a:tr>
              <a:tr h="612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Unreliable rural connectivity / venue WiFi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Dual-endpoint Overpass retries, localStorage caching, pre-seeded demographic fallbacks; zero blank UI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Built ✓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1E7"/>
                    </a:solidFill>
                  </a:tcPr>
                </a:tc>
              </a:tr>
              <a:tr h="612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Data sparsity in remote unsurveyed villages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Grounded in Census 2011 PCA &amp; Mission Antyodaya village infrastructure (co-ops, banks, haats, power)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Built ✓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Groq / External AI service outage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Template narrative fallbacks (EN/</a:t>
                      </a:r>
                      <a:r>
                        <a:rPr lang="hi-IN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हिं</a:t>
                      </a: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/</a:t>
                      </a:r>
                      <a:r>
                        <a:rPr lang="hi-IN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తె</a:t>
                      </a: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) + offline case chat advisor; portal never blocks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Built ✓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1E7"/>
                    </a:solidFill>
                  </a:tcPr>
                </a:tc>
              </a:tr>
              <a:tr h="612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Working capital depletion &amp; gestation lag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Built-in financial safety buffer: computes 3-month operating expenses + 10% contingency into project cost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Built ✓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IMPACT AND BENEFITS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11" name="TextBox 8"/>
          <p:cNvSpPr/>
          <p:nvPr/>
        </p:nvSpPr>
        <p:spPr>
          <a:xfrm>
            <a:off x="612720" y="1188720"/>
            <a:ext cx="5394600" cy="3433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4F81BD"/>
                </a:solidFill>
                <a:effectLst/>
                <a:uFillTx/>
                <a:latin typeface="Calibri"/>
                <a:ea typeface="ＭＳ Ｐゴシック"/>
              </a:rPr>
              <a:t>Potential Impact on Target Audience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2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Transparent Financial Structuring: </a:t>
            </a: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₹1,00,000 margin → ₹10,00,000 project → ₹9,00,000 loan (TERM @ 8%, ₹14,028/mo EMI) clearly structured before borrowing.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2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Reduces Enterprise Failure Rate: </a:t>
            </a: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Entrepreneurs choose viable ventures backed by Census population &amp; Agmarknet demand (e.g. 14,230 pop &amp; ₹53.5L/mo demand in Chevella).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4F81BD"/>
                </a:solidFill>
                <a:effectLst/>
                <a:uFillTx/>
                <a:latin typeface="Calibri"/>
                <a:ea typeface="ＭＳ Ｐゴシック"/>
              </a:rPr>
              <a:t>Social, Economic &amp; Governance Benefits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2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Economic (SCA Default Reduction): </a:t>
            </a: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Drastically lowers non-performing assets (NPAs) for State Channelising Agencies by directing credit to underserved niches.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2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Social Inclusion &amp; Empowerment: </a:t>
            </a: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Empowers rural youth, women artisans (Mahila Samriddhi &amp; Swarnima schemes), and grassroots SHGs through vernacular guidance.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2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Governance Acceleration: </a:t>
            </a:r>
            <a:r>
              <a:rPr lang="en-US" sz="12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Shrinks appraisal turnaround from weeks of paperwork to 4 minutes with streaming AI case advisor &amp; audit history.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Num" idx="4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0F16941-6C9B-40DB-8D7B-A06431FF96D2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ftr" idx="44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rPr>
              <a:t>@SIH Idea submission- Template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Oval 11" descr="Your startup LOGO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Team ADAPT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Picture 17410" descr="shot-assistant.png"/>
          <p:cNvPicPr/>
          <p:nvPr/>
        </p:nvPicPr>
        <p:blipFill>
          <a:blip r:embed="rId2"/>
          <a:stretch/>
        </p:blipFill>
        <p:spPr>
          <a:xfrm>
            <a:off x="6263640" y="1188720"/>
            <a:ext cx="5303160" cy="349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Box 17411"/>
          <p:cNvSpPr/>
          <p:nvPr/>
        </p:nvSpPr>
        <p:spPr>
          <a:xfrm>
            <a:off x="6263640" y="4754880"/>
            <a:ext cx="5303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Live analysis: Census verified · viability 78/100 · quarterly EMI &amp; working capital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7412"/>
          <p:cNvSpPr/>
          <p:nvPr/>
        </p:nvSpPr>
        <p:spPr>
          <a:xfrm>
            <a:off x="612720" y="449892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4F81BD"/>
                </a:solidFill>
                <a:effectLst/>
                <a:uFillTx/>
                <a:latin typeface="Calibri"/>
                <a:ea typeface="ＭＳ Ｐゴシック"/>
              </a:rPr>
              <a:t>Automated Scheme Router (PS-Verbatim Rules):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17413"/>
          <p:cNvSpPr/>
          <p:nvPr/>
        </p:nvSpPr>
        <p:spPr>
          <a:xfrm>
            <a:off x="612720" y="4846320"/>
            <a:ext cx="2605680" cy="1005480"/>
          </a:xfrm>
          <a:prstGeom prst="roundRect">
            <a:avLst>
              <a:gd name="adj" fmla="val 16667"/>
            </a:avLst>
          </a:prstGeom>
          <a:solidFill>
            <a:srgbClr val="0B5D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MICRO ≤ ₹1.40L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6.5% · 3 yr · 3-mo moratorium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7414"/>
          <p:cNvSpPr/>
          <p:nvPr/>
        </p:nvSpPr>
        <p:spPr>
          <a:xfrm>
            <a:off x="3401640" y="4846320"/>
            <a:ext cx="2605680" cy="100548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TERM ₹1.40–50L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8% · 7 yr · 6-mo moratorium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RESEARCH  AND REFERENCES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23" name="TextBox 8"/>
          <p:cNvSpPr/>
          <p:nvPr/>
        </p:nvSpPr>
        <p:spPr>
          <a:xfrm>
            <a:off x="612720" y="1188720"/>
            <a:ext cx="10972440" cy="4395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8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Scheme Directives (PS-verbatim): 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MoSJE, NBCFDC &amp; NSFDC Concessional Loan Guidelines — Micro Finance (≤ ₹1.40L @ 6.5%) &amp; Term Loan (≤ ₹50L @ 8%) — </a:t>
            </a:r>
            <a:r>
              <a:rPr lang="en-US" sz="1800" b="0" u="none" strike="noStrike">
                <a:solidFill>
                  <a:srgbClr val="054AB0"/>
                </a:solidFill>
                <a:effectLst/>
                <a:uFillTx/>
                <a:latin typeface="Calibri"/>
                <a:ea typeface="ＭＳ Ｐゴシック"/>
              </a:rPr>
              <a:t>nsfdc.nic.in/scheme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 · </a:t>
            </a:r>
            <a:r>
              <a:rPr lang="en-US" sz="1800" b="0" u="none" strike="noStrike">
                <a:solidFill>
                  <a:srgbClr val="054AB0"/>
                </a:solidFill>
                <a:effectLst/>
                <a:uFillTx/>
                <a:latin typeface="Calibri"/>
                <a:ea typeface="ＭＳ Ｐゴシック"/>
              </a:rPr>
              <a:t>nbcfdc.gov.in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8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Rural Infrastructure &amp; Demographics: 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Ministry of Rural Development (MoRD) — Mission Antyodaya Survey (2020) &amp; Census of India 2011 Primary Census Abstract (PCA) — </a:t>
            </a:r>
            <a:r>
              <a:rPr lang="en-US" sz="1800" b="0" u="none" strike="noStrike">
                <a:solidFill>
                  <a:srgbClr val="054AB0"/>
                </a:solidFill>
                <a:effectLst/>
                <a:uFillTx/>
                <a:latin typeface="Calibri"/>
                <a:ea typeface="ＭＳ Ｐゴシック"/>
              </a:rPr>
              <a:t>missionantyodaya.nic.in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 · </a:t>
            </a:r>
            <a:r>
              <a:rPr lang="en-US" sz="1800" b="0" u="none" strike="noStrike">
                <a:solidFill>
                  <a:srgbClr val="054AB0"/>
                </a:solidFill>
                <a:effectLst/>
                <a:uFillTx/>
                <a:latin typeface="Calibri"/>
                <a:ea typeface="ＭＳ Ｐゴシック"/>
              </a:rPr>
              <a:t>censusindia.gov.in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8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Mandi Pricing &amp; Livestock Benchmarks: 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Directorate of Marketing &amp; Inspection (DMI) — Agmarknet Daily Mandi Price Feeds &amp; 20th Livestock Census, DAHD — </a:t>
            </a:r>
            <a:r>
              <a:rPr lang="en-US" sz="1800" b="0" u="none" strike="noStrike">
                <a:solidFill>
                  <a:srgbClr val="054AB0"/>
                </a:solidFill>
                <a:effectLst/>
                <a:uFillTx/>
                <a:latin typeface="Calibri"/>
                <a:ea typeface="ＭＳ Ｐゴシック"/>
              </a:rPr>
              <a:t>agmarknet.gov.in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 · </a:t>
            </a:r>
            <a:r>
              <a:rPr lang="en-US" sz="1800" b="0" u="none" strike="noStrike">
                <a:solidFill>
                  <a:srgbClr val="054AB0"/>
                </a:solidFill>
                <a:effectLst/>
                <a:uFillTx/>
                <a:latin typeface="Calibri"/>
                <a:ea typeface="ＭＳ Ｐゴシック"/>
              </a:rPr>
              <a:t>dahd.nic.in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8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Hyper-Local Spatial Data: 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OpenStreetMap Foundation &amp; Overpass API for real-time shop density mapping &amp; dual failover — </a:t>
            </a:r>
            <a:r>
              <a:rPr lang="en-US" sz="1800" b="0" u="none" strike="noStrike">
                <a:solidFill>
                  <a:srgbClr val="054AB0"/>
                </a:solidFill>
                <a:effectLst/>
                <a:uFillTx/>
                <a:latin typeface="Calibri"/>
                <a:ea typeface="ＭＳ Ｐゴシック"/>
              </a:rPr>
              <a:t>overpass-api.de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 · </a:t>
            </a:r>
            <a:r>
              <a:rPr lang="en-US" sz="1800" b="0" u="none" strike="noStrike">
                <a:solidFill>
                  <a:srgbClr val="054AB0"/>
                </a:solidFill>
                <a:effectLst/>
                <a:uFillTx/>
                <a:latin typeface="Calibri"/>
                <a:ea typeface="ＭＳ Ｐゴシック"/>
              </a:rPr>
              <a:t>openstreetmap.org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8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AI Language &amp; Reasoning: 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Groq LPU Inference Engine (openai/gpt-oss-20b / llama-3.1-8b) for structured trilingual narratives &amp; SSE streaming advisor — </a:t>
            </a:r>
            <a:r>
              <a:rPr lang="en-US" sz="1800" b="0" u="none" strike="noStrike">
                <a:solidFill>
                  <a:srgbClr val="054AB0"/>
                </a:solidFill>
                <a:effectLst/>
                <a:uFillTx/>
                <a:latin typeface="Calibri"/>
                <a:ea typeface="ＭＳ Ｐゴシック"/>
              </a:rPr>
              <a:t>docs.groq.com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•  </a:t>
            </a:r>
            <a:r>
              <a:rPr lang="en-US" sz="18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Engineering &amp; Verified TDD: 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Next.js 14 App Router, FastAPI, SQLModel/SQLite; 56-test pytest suite with golden validation for PS lending boundaries &amp; dataset grounding — </a:t>
            </a:r>
            <a:r>
              <a:rPr lang="en-US" sz="1800" b="0" u="none" strike="noStrike">
                <a:solidFill>
                  <a:srgbClr val="054AB0"/>
                </a:solidFill>
                <a:effectLst/>
                <a:uFillTx/>
                <a:latin typeface="Calibri"/>
                <a:ea typeface="ＭＳ Ｐゴシック"/>
              </a:rPr>
              <a:t>github.com/GramIntel</a:t>
            </a:r>
            <a:r>
              <a:rPr lang="en-US" sz="1800" b="0" u="none" strike="noStrike">
                <a:solidFill>
                  <a:srgbClr val="0F1A14"/>
                </a:solidFill>
                <a:effectLst/>
                <a:uFillTx/>
                <a:latin typeface="Calibri"/>
                <a:ea typeface="ＭＳ Ｐゴシック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4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E748922-5925-4EDD-9B3C-18C3AA0FFCA2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ftr" idx="46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rPr>
              <a:t>@SIH Idea submission- Template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Oval 8" descr="Your startup LOGO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0B5D3B"/>
                </a:solidFill>
                <a:effectLst/>
                <a:uFillTx/>
                <a:latin typeface="Calibri"/>
                <a:ea typeface="ＭＳ Ｐゴシック"/>
              </a:rPr>
              <a:t>Team ADAPT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11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7493</TotalTime>
  <Application>LibreOffice/26.8.0.3$Linux_X86_64 LibreOffice_project/680$Build-3</Application>
  <AppVersion>15.0000</AppVersion>
  <Words>325</Words>
  <Paragraphs>62</Paragraphs>
  <Company>Crowdfunder,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  <dc:description/>
  <dc:language>en-US</dc:language>
  <cp:lastModifiedBy/>
  <dcterms:modified xsi:type="dcterms:W3CDTF">2026-09-09T00:23:56Z</dcterms:modified>
  <cp:revision>150</cp:revision>
  <dc:subject/>
  <dc:title>Investor Pitch Deck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